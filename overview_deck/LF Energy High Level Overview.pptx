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B021650-3F1B-4908-8C9A-BF79F1FA1910}">
  <a:tblStyle styleId="{6B021650-3F1B-4908-8C9A-BF79F1FA191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a:ea typeface="Roboto Slab"/>
                <a:cs typeface="Roboto Slab"/>
                <a:sym typeface="Roboto Slab"/>
              </a:rPr>
              <a:t>Stats from the last 90 days</a:t>
            </a:r>
            <a:endParaRPr i="1" sz="1200">
              <a:solidFill>
                <a:srgbClr val="696464"/>
              </a:solidFill>
              <a:latin typeface="Roboto Slab"/>
              <a:ea typeface="Roboto Slab"/>
              <a:cs typeface="Roboto Slab"/>
              <a:sym typeface="Roboto Slab"/>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a:ea typeface="Roboto Slab"/>
                <a:cs typeface="Roboto Slab"/>
                <a:sym typeface="Roboto Slab"/>
              </a:rPr>
              <a:t>Current Working Groups include</a:t>
            </a:r>
            <a:endParaRPr sz="1600">
              <a:latin typeface="Roboto Slab"/>
              <a:ea typeface="Roboto Slab"/>
              <a:cs typeface="Roboto Slab"/>
              <a:sym typeface="Roboto Slab"/>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a:buChar char="●"/>
              <a:defRPr i="0" sz="1800" u="none" cap="none" strike="noStrike">
                <a:solidFill>
                  <a:schemeClr val="dk2"/>
                </a:solidFill>
                <a:latin typeface="Roboto Slab"/>
                <a:ea typeface="Roboto Slab"/>
                <a:cs typeface="Roboto Slab"/>
                <a:sym typeface="Roboto Slab"/>
              </a:defRPr>
            </a:lvl1pPr>
            <a:lvl2pPr indent="-317500" lvl="1" marL="9144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2pPr>
            <a:lvl3pPr indent="-317500" lvl="2" marL="13716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3pPr>
            <a:lvl4pPr indent="-317500" lvl="3" marL="18288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4pPr>
            <a:lvl5pPr indent="-317500" lvl="4" marL="22860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5pPr>
            <a:lvl6pPr indent="-317500" lvl="5" marL="27432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6pPr>
            <a:lvl7pPr indent="-317500" lvl="6" marL="32004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7pPr>
            <a:lvl8pPr indent="-317500" lvl="7" marL="36576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8pPr>
            <a:lvl9pPr indent="-317500" lvl="8" marL="4114800" marR="0" rtl="0" algn="l">
              <a:lnSpc>
                <a:spcPct val="115000"/>
              </a:lnSpc>
              <a:spcBef>
                <a:spcPts val="0"/>
              </a:spcBef>
              <a:spcAft>
                <a:spcPts val="0"/>
              </a:spcAft>
              <a:buClr>
                <a:schemeClr val="dk2"/>
              </a:buClr>
              <a:buSzPts val="1400"/>
              <a:buFont typeface="Roboto Slab"/>
              <a:buChar char="■"/>
              <a:defRPr i="0" sz="1400" u="none" cap="none" strike="noStrike">
                <a:solidFill>
                  <a:schemeClr val="dk2"/>
                </a:solidFill>
                <a:latin typeface="Roboto Slab"/>
                <a:ea typeface="Roboto Slab"/>
                <a:cs typeface="Roboto Slab"/>
                <a:sym typeface="Roboto Slab"/>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25.png"/><Relationship Id="rId6" Type="http://schemas.openxmlformats.org/officeDocument/2006/relationships/image" Target="../media/image13.png"/><Relationship Id="rId7" Type="http://schemas.openxmlformats.org/officeDocument/2006/relationships/image" Target="../media/image3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29.pn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7.png"/><Relationship Id="rId7" Type="http://schemas.openxmlformats.org/officeDocument/2006/relationships/image" Target="../media/image34.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a:ea typeface="Roboto Slab"/>
                <a:cs typeface="Roboto Slab"/>
                <a:sym typeface="Roboto Slab"/>
              </a:endParaRPr>
            </a:p>
            <a:p>
              <a:pPr indent="0" lvl="0" marL="0" rtl="0" algn="ctr">
                <a:spcBef>
                  <a:spcPts val="0"/>
                </a:spcBef>
                <a:spcAft>
                  <a:spcPts val="0"/>
                </a:spcAft>
                <a:buNone/>
              </a:pPr>
              <a:r>
                <a:rPr lang="en" sz="1050">
                  <a:latin typeface="Roboto Slab"/>
                  <a:ea typeface="Roboto Slab"/>
                  <a:cs typeface="Roboto Slab"/>
                  <a:sym typeface="Roboto Slab"/>
                </a:rPr>
                <a:t>Early-stage research and prototypes</a:t>
              </a:r>
              <a:endParaRPr sz="1050">
                <a:latin typeface="Roboto Slab"/>
                <a:ea typeface="Roboto Slab"/>
                <a:cs typeface="Roboto Slab"/>
                <a:sym typeface="Roboto Slab"/>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a:ea typeface="Roboto Slab"/>
                <a:cs typeface="Roboto Slab"/>
                <a:sym typeface="Roboto Slab"/>
              </a:endParaRPr>
            </a:p>
            <a:p>
              <a:pPr indent="0" lvl="0" marL="0" rtl="0" algn="ctr">
                <a:spcBef>
                  <a:spcPts val="0"/>
                </a:spcBef>
                <a:spcAft>
                  <a:spcPts val="0"/>
                </a:spcAft>
                <a:buNone/>
              </a:pPr>
              <a:r>
                <a:rPr lang="en" sz="1050">
                  <a:latin typeface="Roboto Slab"/>
                  <a:ea typeface="Roboto Slab"/>
                  <a:cs typeface="Roboto Slab"/>
                  <a:sym typeface="Roboto Slab"/>
                </a:rPr>
                <a:t>Advocacy for investor-owned electric companies</a:t>
              </a:r>
              <a:endParaRPr sz="1050">
                <a:latin typeface="Roboto Slab"/>
                <a:ea typeface="Roboto Slab"/>
                <a:cs typeface="Roboto Slab"/>
                <a:sym typeface="Roboto Slab"/>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a:ea typeface="Roboto Slab"/>
                <a:cs typeface="Roboto Slab"/>
                <a:sym typeface="Roboto Slab"/>
              </a:endParaRPr>
            </a:p>
            <a:p>
              <a:pPr indent="0" lvl="0" marL="0" rtl="0" algn="ctr">
                <a:spcBef>
                  <a:spcPts val="0"/>
                </a:spcBef>
                <a:spcAft>
                  <a:spcPts val="0"/>
                </a:spcAft>
                <a:buNone/>
              </a:pPr>
              <a:r>
                <a:rPr lang="en" sz="1050">
                  <a:latin typeface="Roboto Slab"/>
                  <a:ea typeface="Roboto Slab"/>
                  <a:cs typeface="Roboto Slab"/>
                  <a:sym typeface="Roboto Slab"/>
                </a:rPr>
                <a:t>Publications, conferences</a:t>
              </a:r>
              <a:endParaRPr sz="1050">
                <a:latin typeface="Roboto Slab"/>
                <a:ea typeface="Roboto Slab"/>
                <a:cs typeface="Roboto Slab"/>
                <a:sym typeface="Roboto Slab"/>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a:ea typeface="Roboto Slab"/>
                <a:cs typeface="Roboto Slab"/>
                <a:sym typeface="Roboto Slab"/>
              </a:endParaRPr>
            </a:p>
            <a:p>
              <a:pPr indent="0" lvl="0" marL="0" rtl="0" algn="ctr">
                <a:spcBef>
                  <a:spcPts val="0"/>
                </a:spcBef>
                <a:spcAft>
                  <a:spcPts val="0"/>
                </a:spcAft>
                <a:buNone/>
              </a:pPr>
              <a:r>
                <a:rPr lang="en" sz="1050">
                  <a:latin typeface="Roboto Slab"/>
                  <a:ea typeface="Roboto Slab"/>
                  <a:cs typeface="Roboto Slab"/>
                  <a:sym typeface="Roboto Slab"/>
                </a:rPr>
                <a:t>Publications, conferences, standards</a:t>
              </a:r>
              <a:endParaRPr sz="1050">
                <a:latin typeface="Roboto Slab"/>
                <a:ea typeface="Roboto Slab"/>
                <a:cs typeface="Roboto Slab"/>
                <a:sym typeface="Roboto Slab"/>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a:ea typeface="Roboto Slab"/>
                <a:cs typeface="Roboto Slab"/>
                <a:sym typeface="Roboto Slab"/>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a:ea typeface="Roboto Slab"/>
              <a:cs typeface="Roboto Slab"/>
              <a:sym typeface="Roboto Slab"/>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a:ea typeface="Roboto Slab"/>
                <a:cs typeface="Roboto Slab"/>
                <a:sym typeface="Roboto Slab"/>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a:ea typeface="Roboto Slab"/>
              <a:cs typeface="Roboto Slab"/>
              <a:sym typeface="Roboto Slab"/>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a:ea typeface="Roboto Slab"/>
                <a:cs typeface="Roboto Slab"/>
                <a:sym typeface="Roboto Slab"/>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a:ea typeface="Roboto Slab"/>
              <a:cs typeface="Roboto Slab"/>
              <a:sym typeface="Roboto Slab"/>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a:ea typeface="Roboto Slab"/>
                <a:cs typeface="Roboto Slab"/>
                <a:sym typeface="Roboto Slab"/>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a:ea typeface="Roboto Slab"/>
              <a:cs typeface="Roboto Slab"/>
              <a:sym typeface="Roboto Slab"/>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a:ea typeface="Roboto Slab"/>
                <a:cs typeface="Roboto Slab"/>
                <a:sym typeface="Roboto Slab"/>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a:ea typeface="Roboto Slab"/>
              <a:cs typeface="Roboto Slab"/>
              <a:sym typeface="Roboto Slab"/>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a:ea typeface="Roboto Slab"/>
                <a:cs typeface="Roboto Slab"/>
                <a:sym typeface="Roboto Slab"/>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a:ea typeface="Roboto Slab"/>
              <a:cs typeface="Roboto Slab"/>
              <a:sym typeface="Roboto Slab"/>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{6B021650-3F1B-4908-8C9A-BF79F1FA1910}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{6B021650-3F1B-4908-8C9A-BF79F1FA1910}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{6B021650-3F1B-4908-8C9A-BF79F1FA1910}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{6B021650-3F1B-4908-8C9A-BF79F1FA1910}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{6B021650-3F1B-4908-8C9A-BF79F1FA1910}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{6B021650-3F1B-4908-8C9A-BF79F1FA1910}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