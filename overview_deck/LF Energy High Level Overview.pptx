
<file path=[Content_Types].xml><?xml version="1.0" encoding="utf-8"?>
<Types xmlns="http://schemas.openxmlformats.org/package/2006/content-types">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9.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0.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80" r:id="rId5"/>
    <p:sldMasterId id="214748368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FEA6065E-0FE3-47DE-BD8C-31E3A3F95132}">
  <a:tblStyle styleId="{FEA6065E-0FE3-47DE-BD8C-31E3A3F95132}" styleName="Table_0">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7" Type="http://schemas.openxmlformats.org/officeDocument/2006/relationships/slide" Target="slides/slide20.xml"/><Relationship Id="rId5" Type="http://schemas.openxmlformats.org/officeDocument/2006/relationships/slideMaster" Target="slideMasters/slideMaster1.xml"/><Relationship Id="rId6" Type="http://schemas.openxmlformats.org/officeDocument/2006/relationships/slideMaster" Target="slideMasters/slideMaster2.xml"/><Relationship Id="rId7" Type="http://schemas.openxmlformats.org/officeDocument/2006/relationships/notesMaster" Target="notesMasters/notesMaster1.xml"/><Relationship Id="rId8" Type="http://schemas.openxmlformats.org/officeDocument/2006/relationships/slide" Target="slides/slide1.xml"/><Relationship Id="rId11" Type="http://schemas.openxmlformats.org/officeDocument/2006/relationships/slide" Target="slides/slide4.xml"/><Relationship Id="rId10" Type="http://schemas.openxmlformats.org/officeDocument/2006/relationships/slide" Target="slides/slide3.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6" name="Shape 216"/>
        <p:cNvGrpSpPr/>
        <p:nvPr/>
      </p:nvGrpSpPr>
      <p:grpSpPr>
        <a:xfrm>
          <a:off x="0" y="0"/>
          <a:ext cx="0" cy="0"/>
          <a:chOff x="0" y="0"/>
          <a:chExt cx="0" cy="0"/>
        </a:xfrm>
      </p:grpSpPr>
      <p:sp>
        <p:nvSpPr>
          <p:cNvPr id="217" name="Google Shape;217;g30642fcf511_0_11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8" name="Google Shape;218;g30642fcf511_0_11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3" name="Shape 223"/>
        <p:cNvGrpSpPr/>
        <p:nvPr/>
      </p:nvGrpSpPr>
      <p:grpSpPr>
        <a:xfrm>
          <a:off x="0" y="0"/>
          <a:ext cx="0" cy="0"/>
          <a:chOff x="0" y="0"/>
          <a:chExt cx="0" cy="0"/>
        </a:xfrm>
      </p:grpSpPr>
      <p:sp>
        <p:nvSpPr>
          <p:cNvPr id="224" name="Google Shape;224;g30642fcf511_0_15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5" name="Google Shape;225;g30642fcf511_0_15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9" name="Shape 229"/>
        <p:cNvGrpSpPr/>
        <p:nvPr/>
      </p:nvGrpSpPr>
      <p:grpSpPr>
        <a:xfrm>
          <a:off x="0" y="0"/>
          <a:ext cx="0" cy="0"/>
          <a:chOff x="0" y="0"/>
          <a:chExt cx="0" cy="0"/>
        </a:xfrm>
      </p:grpSpPr>
      <p:sp>
        <p:nvSpPr>
          <p:cNvPr id="230" name="Google Shape;230;g30642fcf511_0_15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1" name="Google Shape;231;g30642fcf511_0_15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5" name="Shape 235"/>
        <p:cNvGrpSpPr/>
        <p:nvPr/>
      </p:nvGrpSpPr>
      <p:grpSpPr>
        <a:xfrm>
          <a:off x="0" y="0"/>
          <a:ext cx="0" cy="0"/>
          <a:chOff x="0" y="0"/>
          <a:chExt cx="0" cy="0"/>
        </a:xfrm>
      </p:grpSpPr>
      <p:sp>
        <p:nvSpPr>
          <p:cNvPr id="236" name="Google Shape;236;g2f8f50bc2f7_0_3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7" name="Google Shape;237;g2f8f50bc2f7_0_3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6" name="Shape 256"/>
        <p:cNvGrpSpPr/>
        <p:nvPr/>
      </p:nvGrpSpPr>
      <p:grpSpPr>
        <a:xfrm>
          <a:off x="0" y="0"/>
          <a:ext cx="0" cy="0"/>
          <a:chOff x="0" y="0"/>
          <a:chExt cx="0" cy="0"/>
        </a:xfrm>
      </p:grpSpPr>
      <p:sp>
        <p:nvSpPr>
          <p:cNvPr id="257" name="Google Shape;257;g30642fcf511_0_15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258" name="Google Shape;258;g30642fcf511_0_158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a:t>
            </a:r>
            <a:r>
              <a:rPr lang="en"/>
              <a:t> </a:t>
            </a:r>
            <a:endParaRPr/>
          </a:p>
        </p:txBody>
      </p:sp>
      <p:sp>
        <p:nvSpPr>
          <p:cNvPr id="259" name="Google Shape;259;g30642fcf511_0_158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3" name="Shape 263"/>
        <p:cNvGrpSpPr/>
        <p:nvPr/>
      </p:nvGrpSpPr>
      <p:grpSpPr>
        <a:xfrm>
          <a:off x="0" y="0"/>
          <a:ext cx="0" cy="0"/>
          <a:chOff x="0" y="0"/>
          <a:chExt cx="0" cy="0"/>
        </a:xfrm>
      </p:grpSpPr>
      <p:sp>
        <p:nvSpPr>
          <p:cNvPr id="264" name="Google Shape;264;g30642fcf511_0_16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5" name="Google Shape;265;g30642fcf511_0_16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9" name="Shape 269"/>
        <p:cNvGrpSpPr/>
        <p:nvPr/>
      </p:nvGrpSpPr>
      <p:grpSpPr>
        <a:xfrm>
          <a:off x="0" y="0"/>
          <a:ext cx="0" cy="0"/>
          <a:chOff x="0" y="0"/>
          <a:chExt cx="0" cy="0"/>
        </a:xfrm>
      </p:grpSpPr>
      <p:sp>
        <p:nvSpPr>
          <p:cNvPr id="270" name="Google Shape;270;g30642fcf511_0_16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1" name="Google Shape;271;g30642fcf511_0_16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5" name="Shape 275"/>
        <p:cNvGrpSpPr/>
        <p:nvPr/>
      </p:nvGrpSpPr>
      <p:grpSpPr>
        <a:xfrm>
          <a:off x="0" y="0"/>
          <a:ext cx="0" cy="0"/>
          <a:chOff x="0" y="0"/>
          <a:chExt cx="0" cy="0"/>
        </a:xfrm>
      </p:grpSpPr>
      <p:sp>
        <p:nvSpPr>
          <p:cNvPr id="276" name="Google Shape;276;g30642fcf511_0_16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7" name="Google Shape;277;g30642fcf511_0_16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2" name="Shape 292"/>
        <p:cNvGrpSpPr/>
        <p:nvPr/>
      </p:nvGrpSpPr>
      <p:grpSpPr>
        <a:xfrm>
          <a:off x="0" y="0"/>
          <a:ext cx="0" cy="0"/>
          <a:chOff x="0" y="0"/>
          <a:chExt cx="0" cy="0"/>
        </a:xfrm>
      </p:grpSpPr>
      <p:sp>
        <p:nvSpPr>
          <p:cNvPr id="293" name="Google Shape;293;g30642fcf511_0_16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4" name="Google Shape;294;g30642fcf511_0_165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9" name="Shape 299"/>
        <p:cNvGrpSpPr/>
        <p:nvPr/>
      </p:nvGrpSpPr>
      <p:grpSpPr>
        <a:xfrm>
          <a:off x="0" y="0"/>
          <a:ext cx="0" cy="0"/>
          <a:chOff x="0" y="0"/>
          <a:chExt cx="0" cy="0"/>
        </a:xfrm>
      </p:grpSpPr>
      <p:sp>
        <p:nvSpPr>
          <p:cNvPr id="300" name="Google Shape;300;g30c836fe29d_0_1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1" name="Google Shape;301;g30c836fe29d_0_1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6" name="Shape 306"/>
        <p:cNvGrpSpPr/>
        <p:nvPr/>
      </p:nvGrpSpPr>
      <p:grpSpPr>
        <a:xfrm>
          <a:off x="0" y="0"/>
          <a:ext cx="0" cy="0"/>
          <a:chOff x="0" y="0"/>
          <a:chExt cx="0" cy="0"/>
        </a:xfrm>
      </p:grpSpPr>
      <p:sp>
        <p:nvSpPr>
          <p:cNvPr id="307" name="Google Shape;307;g30c23a8a209_0_34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8" name="Google Shape;308;g30c23a8a209_0_34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3" name="Shape 313"/>
        <p:cNvGrpSpPr/>
        <p:nvPr/>
      </p:nvGrpSpPr>
      <p:grpSpPr>
        <a:xfrm>
          <a:off x="0" y="0"/>
          <a:ext cx="0" cy="0"/>
          <a:chOff x="0" y="0"/>
          <a:chExt cx="0" cy="0"/>
        </a:xfrm>
      </p:grpSpPr>
      <p:sp>
        <p:nvSpPr>
          <p:cNvPr id="314" name="Google Shape;314;g30642fcf511_0_16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5" name="Google Shape;315;g30642fcf511_0_16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9" name="Shape 319"/>
        <p:cNvGrpSpPr/>
        <p:nvPr/>
      </p:nvGrpSpPr>
      <p:grpSpPr>
        <a:xfrm>
          <a:off x="0" y="0"/>
          <a:ext cx="0" cy="0"/>
          <a:chOff x="0" y="0"/>
          <a:chExt cx="0" cy="0"/>
        </a:xfrm>
      </p:grpSpPr>
      <p:sp>
        <p:nvSpPr>
          <p:cNvPr id="320" name="Google Shape;320;g30642fcf511_0_16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1" name="Google Shape;321;g30642fcf511_0_16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5" name="Shape 325"/>
        <p:cNvGrpSpPr/>
        <p:nvPr/>
      </p:nvGrpSpPr>
      <p:grpSpPr>
        <a:xfrm>
          <a:off x="0" y="0"/>
          <a:ext cx="0" cy="0"/>
          <a:chOff x="0" y="0"/>
          <a:chExt cx="0" cy="0"/>
        </a:xfrm>
      </p:grpSpPr>
      <p:sp>
        <p:nvSpPr>
          <p:cNvPr id="326" name="Google Shape;326;g30642fcf511_0_168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7" name="Google Shape;327;g30642fcf511_0_168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1" name="Shape 331"/>
        <p:cNvGrpSpPr/>
        <p:nvPr/>
      </p:nvGrpSpPr>
      <p:grpSpPr>
        <a:xfrm>
          <a:off x="0" y="0"/>
          <a:ext cx="0" cy="0"/>
          <a:chOff x="0" y="0"/>
          <a:chExt cx="0" cy="0"/>
        </a:xfrm>
      </p:grpSpPr>
      <p:sp>
        <p:nvSpPr>
          <p:cNvPr id="332" name="Google Shape;332;g30642fcf511_0_169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3" name="Google Shape;333;g30642fcf511_0_169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g30642fcf511_0_169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9" name="Google Shape;339;g30642fcf511_0_169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3" name="Shape 343"/>
        <p:cNvGrpSpPr/>
        <p:nvPr/>
      </p:nvGrpSpPr>
      <p:grpSpPr>
        <a:xfrm>
          <a:off x="0" y="0"/>
          <a:ext cx="0" cy="0"/>
          <a:chOff x="0" y="0"/>
          <a:chExt cx="0" cy="0"/>
        </a:xfrm>
      </p:grpSpPr>
      <p:sp>
        <p:nvSpPr>
          <p:cNvPr id="344" name="Google Shape;344;g30642fcf511_0_170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5" name="Google Shape;345;g30642fcf511_0_170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0" name="Shape 350"/>
        <p:cNvGrpSpPr/>
        <p:nvPr/>
      </p:nvGrpSpPr>
      <p:grpSpPr>
        <a:xfrm>
          <a:off x="0" y="0"/>
          <a:ext cx="0" cy="0"/>
          <a:chOff x="0" y="0"/>
          <a:chExt cx="0" cy="0"/>
        </a:xfrm>
      </p:grpSpPr>
      <p:sp>
        <p:nvSpPr>
          <p:cNvPr id="351" name="Google Shape;351;g30642fcf511_0_170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2" name="Google Shape;352;g30642fcf511_0_170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7" name="Shape 357"/>
        <p:cNvGrpSpPr/>
        <p:nvPr/>
      </p:nvGrpSpPr>
      <p:grpSpPr>
        <a:xfrm>
          <a:off x="0" y="0"/>
          <a:ext cx="0" cy="0"/>
          <a:chOff x="0" y="0"/>
          <a:chExt cx="0" cy="0"/>
        </a:xfrm>
      </p:grpSpPr>
      <p:sp>
        <p:nvSpPr>
          <p:cNvPr id="358" name="Google Shape;358;g30642fcf511_0_17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9" name="Google Shape;359;g30642fcf511_0_17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3" name="Shape 363"/>
        <p:cNvGrpSpPr/>
        <p:nvPr/>
      </p:nvGrpSpPr>
      <p:grpSpPr>
        <a:xfrm>
          <a:off x="0" y="0"/>
          <a:ext cx="0" cy="0"/>
          <a:chOff x="0" y="0"/>
          <a:chExt cx="0" cy="0"/>
        </a:xfrm>
      </p:grpSpPr>
      <p:sp>
        <p:nvSpPr>
          <p:cNvPr id="364" name="Google Shape;364;g30642fcf511_0_1719: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65" name="Google Shape;365;g30642fcf511_0_17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png"/><Relationship Id="rId3" Type="http://schemas.openxmlformats.org/officeDocument/2006/relationships/image" Target="../media/image3.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 Id="rId3" Type="http://schemas.openxmlformats.org/officeDocument/2006/relationships/image" Target="../media/image1.png"/><Relationship Id="rId4" Type="http://schemas.openxmlformats.org/officeDocument/2006/relationships/image" Target="../media/image20.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 Id="rId3" Type="http://schemas.openxmlformats.org/officeDocument/2006/relationships/image" Target="../media/image20.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3.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3.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2.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png"/><Relationship Id="rId3" Type="http://schemas.openxmlformats.org/officeDocument/2006/relationships/image" Target="../media/image6.png"/><Relationship Id="rId4" Type="http://schemas.openxmlformats.org/officeDocument/2006/relationships/image" Target="../media/image20.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0.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4.png"/><Relationship Id="rId3" Type="http://schemas.openxmlformats.org/officeDocument/2006/relationships/image" Target="../media/image9.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2.png"/><Relationship Id="rId3" Type="http://schemas.openxmlformats.org/officeDocument/2006/relationships/image" Target="../media/image32.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19.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54" name="Shape 54"/>
        <p:cNvGrpSpPr/>
        <p:nvPr/>
      </p:nvGrpSpPr>
      <p:grpSpPr>
        <a:xfrm>
          <a:off x="0" y="0"/>
          <a:ext cx="0" cy="0"/>
          <a:chOff x="0" y="0"/>
          <a:chExt cx="0" cy="0"/>
        </a:xfrm>
      </p:grpSpPr>
      <p:sp>
        <p:nvSpPr>
          <p:cNvPr id="55" name="Google Shape;5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 name="Google Shape;5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0" name="Google Shape;60;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61" name="Google Shape;61;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2" name="Google Shape;62;p14"/>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63" name="Shape 63"/>
        <p:cNvGrpSpPr/>
        <p:nvPr/>
      </p:nvGrpSpPr>
      <p:grpSpPr>
        <a:xfrm>
          <a:off x="0" y="0"/>
          <a:ext cx="0" cy="0"/>
          <a:chOff x="0" y="0"/>
          <a:chExt cx="0" cy="0"/>
        </a:xfrm>
      </p:grpSpPr>
      <p:sp>
        <p:nvSpPr>
          <p:cNvPr id="64" name="Google Shape;64;p1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5" name="Google Shape;65;p1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6" name="Google Shape;66;p1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7" name="Google Shape;67;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8" name="Google Shape;68;p15"/>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9" name="Google Shape;69;p15"/>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70" name="Google Shape;70;p15"/>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71" name="Shape 71"/>
        <p:cNvGrpSpPr/>
        <p:nvPr/>
      </p:nvGrpSpPr>
      <p:grpSpPr>
        <a:xfrm>
          <a:off x="0" y="0"/>
          <a:ext cx="0" cy="0"/>
          <a:chOff x="0" y="0"/>
          <a:chExt cx="0" cy="0"/>
        </a:xfrm>
      </p:grpSpPr>
      <p:sp>
        <p:nvSpPr>
          <p:cNvPr id="72" name="Google Shape;72;p1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73" name="Google Shape;73;p1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74" name="Google Shape;74;p16"/>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75" name="Google Shape;75;p1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6" name="Google Shape;76;p16"/>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 name="Google Shape;77;p16"/>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8" name="Google Shape;78;p16"/>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79" name="Shape 79"/>
        <p:cNvGrpSpPr/>
        <p:nvPr/>
      </p:nvGrpSpPr>
      <p:grpSpPr>
        <a:xfrm>
          <a:off x="0" y="0"/>
          <a:ext cx="0" cy="0"/>
          <a:chOff x="0" y="0"/>
          <a:chExt cx="0" cy="0"/>
        </a:xfrm>
      </p:grpSpPr>
      <p:sp>
        <p:nvSpPr>
          <p:cNvPr id="80" name="Google Shape;80;p17"/>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 name="Google Shape;81;p17"/>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2" name="Google Shape;82;p17"/>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83" name="Google Shape;83;p1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4" name="Google Shape;84;p17"/>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85" name="Shape 85"/>
        <p:cNvGrpSpPr/>
        <p:nvPr/>
      </p:nvGrpSpPr>
      <p:grpSpPr>
        <a:xfrm>
          <a:off x="0" y="0"/>
          <a:ext cx="0" cy="0"/>
          <a:chOff x="0" y="0"/>
          <a:chExt cx="0" cy="0"/>
        </a:xfrm>
      </p:grpSpPr>
      <p:sp>
        <p:nvSpPr>
          <p:cNvPr id="86" name="Google Shape;86;p1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8"/>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8" name="Google Shape;88;p1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9" name="Google Shape;89;p18"/>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90" name="Shape 90"/>
        <p:cNvGrpSpPr/>
        <p:nvPr/>
      </p:nvGrpSpPr>
      <p:grpSpPr>
        <a:xfrm>
          <a:off x="0" y="0"/>
          <a:ext cx="0" cy="0"/>
          <a:chOff x="0" y="0"/>
          <a:chExt cx="0" cy="0"/>
        </a:xfrm>
      </p:grpSpPr>
      <p:sp>
        <p:nvSpPr>
          <p:cNvPr id="91" name="Google Shape;91;p19"/>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 name="Google Shape;92;p19"/>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93" name="Google Shape;93;p1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94" name="Google Shape;94;p19"/>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95" name="Shape 95"/>
        <p:cNvGrpSpPr/>
        <p:nvPr/>
      </p:nvGrpSpPr>
      <p:grpSpPr>
        <a:xfrm>
          <a:off x="0" y="0"/>
          <a:ext cx="0" cy="0"/>
          <a:chOff x="0" y="0"/>
          <a:chExt cx="0" cy="0"/>
        </a:xfrm>
      </p:grpSpPr>
      <p:sp>
        <p:nvSpPr>
          <p:cNvPr id="96" name="Google Shape;96;p20"/>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97" name="Google Shape;97;p20"/>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8" name="Google Shape;98;p20"/>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9" name="Google Shape;99;p2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100" name="Google Shape;100;p20"/>
          <p:cNvGrpSpPr/>
          <p:nvPr/>
        </p:nvGrpSpPr>
        <p:grpSpPr>
          <a:xfrm>
            <a:off x="6971838" y="-12"/>
            <a:ext cx="2174881" cy="1450030"/>
            <a:chOff x="6098378" y="5"/>
            <a:chExt cx="3045625" cy="2030570"/>
          </a:xfrm>
        </p:grpSpPr>
        <p:sp>
          <p:nvSpPr>
            <p:cNvPr id="101" name="Google Shape;101;p20"/>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 name="Google Shape;102;p20"/>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 name="Google Shape;103;p20"/>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 name="Google Shape;104;p20"/>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105" name="Google Shape;105;p20"/>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106" name="Google Shape;106;p20"/>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07" name="Shape 107"/>
        <p:cNvGrpSpPr/>
        <p:nvPr/>
      </p:nvGrpSpPr>
      <p:grpSpPr>
        <a:xfrm>
          <a:off x="0" y="0"/>
          <a:ext cx="0" cy="0"/>
          <a:chOff x="0" y="0"/>
          <a:chExt cx="0" cy="0"/>
        </a:xfrm>
      </p:grpSpPr>
      <p:sp>
        <p:nvSpPr>
          <p:cNvPr id="108" name="Google Shape;108;p2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 name="Google Shape;109;p2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 name="Google Shape;110;p2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11" name="Google Shape;111;p2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2" name="Google Shape;112;p2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 name="Google Shape;113;p2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114" name="Google Shape;114;p2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115" name="Shape 115"/>
        <p:cNvGrpSpPr/>
        <p:nvPr/>
      </p:nvGrpSpPr>
      <p:grpSpPr>
        <a:xfrm>
          <a:off x="0" y="0"/>
          <a:ext cx="0" cy="0"/>
          <a:chOff x="0" y="0"/>
          <a:chExt cx="0" cy="0"/>
        </a:xfrm>
      </p:grpSpPr>
      <p:sp>
        <p:nvSpPr>
          <p:cNvPr id="116" name="Google Shape;116;p22"/>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 name="Google Shape;117;p22"/>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 name="Google Shape;118;p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9" name="Google Shape;119;p22"/>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 name="Google Shape;120;p22"/>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21" name="Google Shape;121;p22"/>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122" name="Google Shape;122;p22"/>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 name="Google Shape;123;p22"/>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 name="Google Shape;124;p22"/>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 name="Google Shape;125;p22"/>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126" name="Google Shape;126;p22"/>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127" name="Google Shape;127;p22"/>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128" name="Google Shape;128;p22"/>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129" name="Google Shape;129;p22"/>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0" name="Google Shape;130;p22"/>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1" name="Google Shape;131;p22"/>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2" name="Google Shape;132;p22"/>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3" name="Google Shape;133;p22"/>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4" name="Google Shape;134;p22"/>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5" name="Google Shape;135;p22"/>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36" name="Shape 136"/>
        <p:cNvGrpSpPr/>
        <p:nvPr/>
      </p:nvGrpSpPr>
      <p:grpSpPr>
        <a:xfrm>
          <a:off x="0" y="0"/>
          <a:ext cx="0" cy="0"/>
          <a:chOff x="0" y="0"/>
          <a:chExt cx="0" cy="0"/>
        </a:xfrm>
      </p:grpSpPr>
      <p:sp>
        <p:nvSpPr>
          <p:cNvPr id="137" name="Google Shape;137;p2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38" name="Google Shape;138;p2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39" name="Google Shape;139;p2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140" name="Shape 140"/>
        <p:cNvGrpSpPr/>
        <p:nvPr/>
      </p:nvGrpSpPr>
      <p:grpSpPr>
        <a:xfrm>
          <a:off x="0" y="0"/>
          <a:ext cx="0" cy="0"/>
          <a:chOff x="0" y="0"/>
          <a:chExt cx="0" cy="0"/>
        </a:xfrm>
      </p:grpSpPr>
      <p:sp>
        <p:nvSpPr>
          <p:cNvPr id="141" name="Google Shape;141;p2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 name="Google Shape;142;p24"/>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143" name="Google Shape;143;p24"/>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144" name="Google Shape;144;p24"/>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145" name="Google Shape;145;p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46" name="Google Shape;146;p2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147" name="Google Shape;147;p24"/>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148" name="Shape 148"/>
        <p:cNvGrpSpPr/>
        <p:nvPr/>
      </p:nvGrpSpPr>
      <p:grpSpPr>
        <a:xfrm>
          <a:off x="0" y="0"/>
          <a:ext cx="0" cy="0"/>
          <a:chOff x="0" y="0"/>
          <a:chExt cx="0" cy="0"/>
        </a:xfrm>
      </p:grpSpPr>
      <p:grpSp>
        <p:nvGrpSpPr>
          <p:cNvPr id="149" name="Google Shape;149;p25"/>
          <p:cNvGrpSpPr/>
          <p:nvPr/>
        </p:nvGrpSpPr>
        <p:grpSpPr>
          <a:xfrm>
            <a:off x="6098378" y="5"/>
            <a:ext cx="3045625" cy="2030570"/>
            <a:chOff x="6098378" y="5"/>
            <a:chExt cx="3045625" cy="2030570"/>
          </a:xfrm>
        </p:grpSpPr>
        <p:sp>
          <p:nvSpPr>
            <p:cNvPr id="150" name="Google Shape;150;p25"/>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 name="Google Shape;151;p25"/>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 name="Google Shape;152;p25"/>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 name="Google Shape;153;p25"/>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54" name="Google Shape;154;p25"/>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155" name="Google Shape;155;p25"/>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156" name="Google Shape;156;p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57" name="Google Shape;157;p25"/>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58" name="Shape 158"/>
        <p:cNvGrpSpPr/>
        <p:nvPr/>
      </p:nvGrpSpPr>
      <p:grpSpPr>
        <a:xfrm>
          <a:off x="0" y="0"/>
          <a:ext cx="0" cy="0"/>
          <a:chOff x="0" y="0"/>
          <a:chExt cx="0" cy="0"/>
        </a:xfrm>
      </p:grpSpPr>
      <p:sp>
        <p:nvSpPr>
          <p:cNvPr id="159" name="Google Shape;159;p2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160" name="Shape 160"/>
        <p:cNvGrpSpPr/>
        <p:nvPr/>
      </p:nvGrpSpPr>
      <p:grpSpPr>
        <a:xfrm>
          <a:off x="0" y="0"/>
          <a:ext cx="0" cy="0"/>
          <a:chOff x="0" y="0"/>
          <a:chExt cx="0" cy="0"/>
        </a:xfrm>
      </p:grpSpPr>
      <p:sp>
        <p:nvSpPr>
          <p:cNvPr id="161" name="Google Shape;161;p2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 name="Google Shape;162;p2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 name="Google Shape;163;p2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 name="Google Shape;164;p2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 name="Google Shape;165;p2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 name="Google Shape;166;p2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67" name="Google Shape;167;p27"/>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68" name="Google Shape;168;p27"/>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69" name="Google Shape;169;p27"/>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70" name="Shape 170"/>
        <p:cNvGrpSpPr/>
        <p:nvPr/>
      </p:nvGrpSpPr>
      <p:grpSpPr>
        <a:xfrm>
          <a:off x="0" y="0"/>
          <a:ext cx="0" cy="0"/>
          <a:chOff x="0" y="0"/>
          <a:chExt cx="0" cy="0"/>
        </a:xfrm>
      </p:grpSpPr>
      <p:sp>
        <p:nvSpPr>
          <p:cNvPr id="171" name="Google Shape;171;p28"/>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172" name="Google Shape;172;p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73" name="Shape 173"/>
        <p:cNvGrpSpPr/>
        <p:nvPr/>
      </p:nvGrpSpPr>
      <p:grpSpPr>
        <a:xfrm>
          <a:off x="0" y="0"/>
          <a:ext cx="0" cy="0"/>
          <a:chOff x="0" y="0"/>
          <a:chExt cx="0" cy="0"/>
        </a:xfrm>
      </p:grpSpPr>
      <p:sp>
        <p:nvSpPr>
          <p:cNvPr id="174" name="Google Shape;174;p29"/>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75" name="Google Shape;175;p29"/>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6" name="Google Shape;176;p29"/>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77" name="Google Shape;177;p29"/>
          <p:cNvSpPr/>
          <p:nvPr>
            <p:ph idx="2" type="pic"/>
          </p:nvPr>
        </p:nvSpPr>
        <p:spPr>
          <a:xfrm>
            <a:off x="-5" y="-37"/>
            <a:ext cx="2786400" cy="1025700"/>
          </a:xfrm>
          <a:prstGeom prst="rect">
            <a:avLst/>
          </a:prstGeom>
          <a:noFill/>
          <a:ln>
            <a:noFill/>
          </a:ln>
        </p:spPr>
      </p:sp>
      <p:sp>
        <p:nvSpPr>
          <p:cNvPr id="178" name="Google Shape;178;p29"/>
          <p:cNvSpPr/>
          <p:nvPr>
            <p:ph idx="3" type="pic"/>
          </p:nvPr>
        </p:nvSpPr>
        <p:spPr>
          <a:xfrm>
            <a:off x="5465475" y="1135388"/>
            <a:ext cx="3483900" cy="2273700"/>
          </a:xfrm>
          <a:prstGeom prst="rect">
            <a:avLst/>
          </a:prstGeom>
          <a:noFill/>
          <a:ln>
            <a:noFill/>
          </a:ln>
        </p:spPr>
      </p:sp>
      <p:sp>
        <p:nvSpPr>
          <p:cNvPr id="179" name="Google Shape;179;p29"/>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80" name="Google Shape;180;p29"/>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81" name="Google Shape;181;p29"/>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82" name="Google Shape;182;p2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183" name="Shape 183"/>
        <p:cNvGrpSpPr/>
        <p:nvPr/>
      </p:nvGrpSpPr>
      <p:grpSpPr>
        <a:xfrm>
          <a:off x="0" y="0"/>
          <a:ext cx="0" cy="0"/>
          <a:chOff x="0" y="0"/>
          <a:chExt cx="0" cy="0"/>
        </a:xfrm>
      </p:grpSpPr>
      <p:sp>
        <p:nvSpPr>
          <p:cNvPr id="184" name="Google Shape;184;p30"/>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85" name="Google Shape;185;p30"/>
          <p:cNvPicPr preferRelativeResize="0"/>
          <p:nvPr/>
        </p:nvPicPr>
        <p:blipFill rotWithShape="1">
          <a:blip r:embed="rId2">
            <a:alphaModFix/>
          </a:blip>
          <a:srcRect b="7244" l="0" r="0" t="7235"/>
          <a:stretch/>
        </p:blipFill>
        <p:spPr>
          <a:xfrm>
            <a:off x="3158302" y="3533522"/>
            <a:ext cx="2830735" cy="370034"/>
          </a:xfrm>
          <a:prstGeom prst="rect">
            <a:avLst/>
          </a:prstGeom>
          <a:noFill/>
          <a:ln>
            <a:noFill/>
          </a:ln>
        </p:spPr>
      </p:pic>
      <p:sp>
        <p:nvSpPr>
          <p:cNvPr id="186" name="Google Shape;186;p30"/>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187" name="Shape 187"/>
        <p:cNvGrpSpPr/>
        <p:nvPr/>
      </p:nvGrpSpPr>
      <p:grpSpPr>
        <a:xfrm>
          <a:off x="0" y="0"/>
          <a:ext cx="0" cy="0"/>
          <a:chOff x="0" y="0"/>
          <a:chExt cx="0" cy="0"/>
        </a:xfrm>
      </p:grpSpPr>
      <p:sp>
        <p:nvSpPr>
          <p:cNvPr id="188" name="Google Shape;188;p31"/>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rtl="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rtl="0" algn="l">
              <a:lnSpc>
                <a:spcPct val="100000"/>
              </a:lnSpc>
              <a:spcBef>
                <a:spcPts val="0"/>
              </a:spcBef>
              <a:spcAft>
                <a:spcPts val="0"/>
              </a:spcAft>
              <a:buSzPts val="1100"/>
              <a:buFont typeface="Arial"/>
              <a:buNone/>
              <a:defRPr sz="1400"/>
            </a:lvl2pPr>
            <a:lvl3pPr lvl="2" rtl="0" algn="l">
              <a:lnSpc>
                <a:spcPct val="100000"/>
              </a:lnSpc>
              <a:spcBef>
                <a:spcPts val="0"/>
              </a:spcBef>
              <a:spcAft>
                <a:spcPts val="0"/>
              </a:spcAft>
              <a:buSzPts val="1100"/>
              <a:buFont typeface="Arial"/>
              <a:buNone/>
              <a:defRPr sz="1400"/>
            </a:lvl3pPr>
            <a:lvl4pPr lvl="3" rtl="0" algn="l">
              <a:lnSpc>
                <a:spcPct val="100000"/>
              </a:lnSpc>
              <a:spcBef>
                <a:spcPts val="0"/>
              </a:spcBef>
              <a:spcAft>
                <a:spcPts val="0"/>
              </a:spcAft>
              <a:buSzPts val="1100"/>
              <a:buFont typeface="Arial"/>
              <a:buNone/>
              <a:defRPr sz="1400"/>
            </a:lvl4pPr>
            <a:lvl5pPr lvl="4" rtl="0" algn="l">
              <a:lnSpc>
                <a:spcPct val="100000"/>
              </a:lnSpc>
              <a:spcBef>
                <a:spcPts val="0"/>
              </a:spcBef>
              <a:spcAft>
                <a:spcPts val="0"/>
              </a:spcAft>
              <a:buSzPts val="1100"/>
              <a:buFont typeface="Arial"/>
              <a:buNone/>
              <a:defRPr sz="1400"/>
            </a:lvl5pPr>
            <a:lvl6pPr lvl="5" rtl="0" algn="l">
              <a:lnSpc>
                <a:spcPct val="100000"/>
              </a:lnSpc>
              <a:spcBef>
                <a:spcPts val="0"/>
              </a:spcBef>
              <a:spcAft>
                <a:spcPts val="0"/>
              </a:spcAft>
              <a:buSzPts val="1100"/>
              <a:buFont typeface="Arial"/>
              <a:buNone/>
              <a:defRPr sz="1400"/>
            </a:lvl6pPr>
            <a:lvl7pPr lvl="6" rtl="0" algn="l">
              <a:lnSpc>
                <a:spcPct val="100000"/>
              </a:lnSpc>
              <a:spcBef>
                <a:spcPts val="0"/>
              </a:spcBef>
              <a:spcAft>
                <a:spcPts val="0"/>
              </a:spcAft>
              <a:buSzPts val="1100"/>
              <a:buFont typeface="Arial"/>
              <a:buNone/>
              <a:defRPr sz="1400"/>
            </a:lvl7pPr>
            <a:lvl8pPr lvl="7" rtl="0" algn="l">
              <a:lnSpc>
                <a:spcPct val="100000"/>
              </a:lnSpc>
              <a:spcBef>
                <a:spcPts val="0"/>
              </a:spcBef>
              <a:spcAft>
                <a:spcPts val="0"/>
              </a:spcAft>
              <a:buSzPts val="1100"/>
              <a:buFont typeface="Arial"/>
              <a:buNone/>
              <a:defRPr sz="1400"/>
            </a:lvl8pPr>
            <a:lvl9pPr lvl="8" rtl="0" algn="l">
              <a:lnSpc>
                <a:spcPct val="100000"/>
              </a:lnSpc>
              <a:spcBef>
                <a:spcPts val="0"/>
              </a:spcBef>
              <a:spcAft>
                <a:spcPts val="0"/>
              </a:spcAft>
              <a:buSzPts val="1100"/>
              <a:buFont typeface="Arial"/>
              <a:buNone/>
              <a:defRPr sz="1400"/>
            </a:lvl9pPr>
          </a:lstStyle>
          <a:p/>
        </p:txBody>
      </p:sp>
      <p:sp>
        <p:nvSpPr>
          <p:cNvPr id="189" name="Google Shape;189;p31"/>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190" name="Google Shape;190;p31"/>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191" name="Google Shape;191;p31"/>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192" name="Google Shape;192;p3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id="193" name="Google Shape;193;p31"/>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194" name="Shape 194"/>
        <p:cNvGrpSpPr/>
        <p:nvPr/>
      </p:nvGrpSpPr>
      <p:grpSpPr>
        <a:xfrm>
          <a:off x="0" y="0"/>
          <a:ext cx="0" cy="0"/>
          <a:chOff x="0" y="0"/>
          <a:chExt cx="0" cy="0"/>
        </a:xfrm>
      </p:grpSpPr>
      <p:sp>
        <p:nvSpPr>
          <p:cNvPr id="195" name="Google Shape;195;p3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196" name="Google Shape;196;p3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97" name="Google Shape;197;p3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198" name="Shape 198"/>
        <p:cNvGrpSpPr/>
        <p:nvPr/>
      </p:nvGrpSpPr>
      <p:grpSpPr>
        <a:xfrm>
          <a:off x="0" y="0"/>
          <a:ext cx="0" cy="0"/>
          <a:chOff x="0" y="0"/>
          <a:chExt cx="0" cy="0"/>
        </a:xfrm>
      </p:grpSpPr>
      <p:grpSp>
        <p:nvGrpSpPr>
          <p:cNvPr id="199" name="Google Shape;199;p33"/>
          <p:cNvGrpSpPr/>
          <p:nvPr/>
        </p:nvGrpSpPr>
        <p:grpSpPr>
          <a:xfrm>
            <a:off x="6098378" y="5"/>
            <a:ext cx="3045625" cy="2030570"/>
            <a:chOff x="6098378" y="5"/>
            <a:chExt cx="3045625" cy="2030570"/>
          </a:xfrm>
        </p:grpSpPr>
        <p:sp>
          <p:nvSpPr>
            <p:cNvPr id="200" name="Google Shape;200;p3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 name="Google Shape;201;p3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 name="Google Shape;202;p3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 name="Google Shape;203;p3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04" name="Google Shape;204;p33"/>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205" name="Google Shape;205;p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06" name="Google Shape;206;p3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207" name="Google Shape;207;p33"/>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208" name="Shape 208"/>
        <p:cNvGrpSpPr/>
        <p:nvPr/>
      </p:nvGrpSpPr>
      <p:grpSpPr>
        <a:xfrm>
          <a:off x="0" y="0"/>
          <a:ext cx="0" cy="0"/>
          <a:chOff x="0" y="0"/>
          <a:chExt cx="0" cy="0"/>
        </a:xfrm>
      </p:grpSpPr>
      <p:sp>
        <p:nvSpPr>
          <p:cNvPr id="209" name="Google Shape;209;p3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0" name="Google Shape;210;p34"/>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11" name="Google Shape;211;p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12" name="Google Shape;212;p3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13" name="Google Shape;213;p34"/>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214" name="Google Shape;214;p34"/>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215" name="Google Shape;215;p34"/>
          <p:cNvSpPr/>
          <p:nvPr>
            <p:ph idx="2" type="pic"/>
          </p:nvPr>
        </p:nvSpPr>
        <p:spPr>
          <a:xfrm>
            <a:off x="337406" y="2569706"/>
            <a:ext cx="3901500" cy="1463100"/>
          </a:xfrm>
          <a:prstGeom prst="rect">
            <a:avLst/>
          </a:prstGeom>
          <a:noFill/>
          <a:ln>
            <a:noFill/>
          </a:ln>
        </p:spPr>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31.xml"/><Relationship Id="rId11" Type="http://schemas.openxmlformats.org/officeDocument/2006/relationships/slideLayout" Target="../slideLayouts/slideLayout22.xml"/><Relationship Id="rId22" Type="http://schemas.openxmlformats.org/officeDocument/2006/relationships/theme" Target="../theme/theme3.xml"/><Relationship Id="rId10" Type="http://schemas.openxmlformats.org/officeDocument/2006/relationships/slideLayout" Target="../slideLayouts/slideLayout21.xml"/><Relationship Id="rId21" Type="http://schemas.openxmlformats.org/officeDocument/2006/relationships/slideLayout" Target="../slideLayouts/slideLayout32.xml"/><Relationship Id="rId13" Type="http://schemas.openxmlformats.org/officeDocument/2006/relationships/slideLayout" Target="../slideLayouts/slideLayout24.xml"/><Relationship Id="rId12" Type="http://schemas.openxmlformats.org/officeDocument/2006/relationships/slideLayout" Target="../slideLayouts/slideLayout23.xml"/><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5" Type="http://schemas.openxmlformats.org/officeDocument/2006/relationships/slideLayout" Target="../slideLayouts/slideLayout26.xml"/><Relationship Id="rId14" Type="http://schemas.openxmlformats.org/officeDocument/2006/relationships/slideLayout" Target="../slideLayouts/slideLayout25.xml"/><Relationship Id="rId17" Type="http://schemas.openxmlformats.org/officeDocument/2006/relationships/slideLayout" Target="../slideLayouts/slideLayout28.xml"/><Relationship Id="rId16" Type="http://schemas.openxmlformats.org/officeDocument/2006/relationships/slideLayout" Target="../slideLayouts/slideLayout27.xml"/><Relationship Id="rId5" Type="http://schemas.openxmlformats.org/officeDocument/2006/relationships/slideLayout" Target="../slideLayouts/slideLayout16.xml"/><Relationship Id="rId19" Type="http://schemas.openxmlformats.org/officeDocument/2006/relationships/slideLayout" Target="../slideLayouts/slideLayout30.xml"/><Relationship Id="rId6" Type="http://schemas.openxmlformats.org/officeDocument/2006/relationships/slideLayout" Target="../slideLayouts/slideLayout17.xml"/><Relationship Id="rId18" Type="http://schemas.openxmlformats.org/officeDocument/2006/relationships/slideLayout" Target="../slideLayouts/slideLayout29.xml"/><Relationship Id="rId7" Type="http://schemas.openxmlformats.org/officeDocument/2006/relationships/slideLayout" Target="../slideLayouts/slideLayout18.xml"/><Relationship Id="rId8" Type="http://schemas.openxmlformats.org/officeDocument/2006/relationships/slideLayout" Target="../slideLayouts/slideLayout1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0" name="Shape 50"/>
        <p:cNvGrpSpPr/>
        <p:nvPr/>
      </p:nvGrpSpPr>
      <p:grpSpPr>
        <a:xfrm>
          <a:off x="0" y="0"/>
          <a:ext cx="0" cy="0"/>
          <a:chOff x="0" y="0"/>
          <a:chExt cx="0" cy="0"/>
        </a:xfrm>
      </p:grpSpPr>
      <p:sp>
        <p:nvSpPr>
          <p:cNvPr id="51" name="Google Shape;51;p1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52" name="Google Shape;52;p13"/>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53" name="Google Shape;5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 id="2147483670" r:id="rId12"/>
    <p:sldLayoutId id="2147483671" r:id="rId13"/>
    <p:sldLayoutId id="2147483672" r:id="rId14"/>
    <p:sldLayoutId id="2147483673" r:id="rId15"/>
    <p:sldLayoutId id="2147483674" r:id="rId16"/>
    <p:sldLayoutId id="2147483675" r:id="rId17"/>
    <p:sldLayoutId id="2147483676" r:id="rId18"/>
    <p:sldLayoutId id="2147483677" r:id="rId19"/>
    <p:sldLayoutId id="2147483678" r:id="rId20"/>
    <p:sldLayoutId id="2147483679"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xml"/><Relationship Id="rId3" Type="http://schemas.openxmlformats.org/officeDocument/2006/relationships/image" Target="../media/image18.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3.xml"/><Relationship Id="rId3" Type="http://schemas.openxmlformats.org/officeDocument/2006/relationships/hyperlink" Target="https://lfenergy.org/about/members/" TargetMode="External"/><Relationship Id="rId4" Type="http://schemas.openxmlformats.org/officeDocument/2006/relationships/hyperlink" Target="https://lfenergy.org/our-projects/" TargetMode="External"/><Relationship Id="rId5" Type="http://schemas.openxmlformats.org/officeDocument/2006/relationships/hyperlink" Target="https://events.linuxfoundation.org/lfenergysummit/"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4.xml"/><Relationship Id="rId3" Type="http://schemas.openxmlformats.org/officeDocument/2006/relationships/image" Target="../media/image10.png"/><Relationship Id="rId4" Type="http://schemas.openxmlformats.org/officeDocument/2006/relationships/image" Target="../media/image8.png"/><Relationship Id="rId5" Type="http://schemas.openxmlformats.org/officeDocument/2006/relationships/image" Target="../media/image26.png"/><Relationship Id="rId6" Type="http://schemas.openxmlformats.org/officeDocument/2006/relationships/image" Target="../media/image16.png"/><Relationship Id="rId7"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36.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6.xml"/><Relationship Id="rId3" Type="http://schemas.openxmlformats.org/officeDocument/2006/relationships/image" Target="../media/image4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8.xml"/><Relationship Id="rId3" Type="http://schemas.openxmlformats.org/officeDocument/2006/relationships/image" Target="../media/image25.png"/><Relationship Id="rId4" Type="http://schemas.openxmlformats.org/officeDocument/2006/relationships/image" Target="../media/image24.png"/><Relationship Id="rId5" Type="http://schemas.openxmlformats.org/officeDocument/2006/relationships/image" Target="../media/image17.png"/><Relationship Id="rId6" Type="http://schemas.openxmlformats.org/officeDocument/2006/relationships/image" Target="../media/image15.png"/><Relationship Id="rId7" Type="http://schemas.openxmlformats.org/officeDocument/2006/relationships/image" Target="../media/image27.png"/><Relationship Id="rId8" Type="http://schemas.openxmlformats.org/officeDocument/2006/relationships/image" Target="../media/image29.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0.xml"/><Relationship Id="rId3" Type="http://schemas.openxmlformats.org/officeDocument/2006/relationships/image" Target="../media/image2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1.xml"/><Relationship Id="rId3" Type="http://schemas.openxmlformats.org/officeDocument/2006/relationships/image" Target="../media/image17.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2.xml"/><Relationship Id="rId3" Type="http://schemas.openxmlformats.org/officeDocument/2006/relationships/image" Target="../media/image3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8.xml"/><Relationship Id="rId3" Type="http://schemas.openxmlformats.org/officeDocument/2006/relationships/hyperlink" Target="https://www.linuxfoundation.org/about/members" TargetMode="External"/><Relationship Id="rId4" Type="http://schemas.openxmlformats.org/officeDocument/2006/relationships/hyperlink" Target="https://www.linuxfoundation.org/about/join#benefits"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enrollment.lfx.linuxfoundation.org/?project=lfenergy"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0.xml"/><Relationship Id="rId3" Type="http://schemas.openxmlformats.org/officeDocument/2006/relationships/hyperlink" Target="http://www.lfenergy.org/" TargetMode="External"/><Relationship Id="rId4" Type="http://schemas.openxmlformats.org/officeDocument/2006/relationships/hyperlink" Target="mailto:info@lfenergy.org" TargetMode="External"/><Relationship Id="rId9" Type="http://schemas.openxmlformats.org/officeDocument/2006/relationships/image" Target="../media/image37.png"/><Relationship Id="rId5" Type="http://schemas.openxmlformats.org/officeDocument/2006/relationships/hyperlink" Target="mailto:membership@lfenergy.org" TargetMode="External"/><Relationship Id="rId6" Type="http://schemas.openxmlformats.org/officeDocument/2006/relationships/image" Target="../media/image31.png"/><Relationship Id="rId7" Type="http://schemas.openxmlformats.org/officeDocument/2006/relationships/image" Target="../media/image34.png"/><Relationship Id="rId8" Type="http://schemas.openxmlformats.org/officeDocument/2006/relationships/image" Target="../media/image33.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9" name="Shape 219"/>
        <p:cNvGrpSpPr/>
        <p:nvPr/>
      </p:nvGrpSpPr>
      <p:grpSpPr>
        <a:xfrm>
          <a:off x="0" y="0"/>
          <a:ext cx="0" cy="0"/>
          <a:chOff x="0" y="0"/>
          <a:chExt cx="0" cy="0"/>
        </a:xfrm>
      </p:grpSpPr>
      <p:sp>
        <p:nvSpPr>
          <p:cNvPr id="220" name="Google Shape;220;p35"/>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Overview</a:t>
            </a:r>
            <a:endParaRPr/>
          </a:p>
        </p:txBody>
      </p:sp>
      <p:sp>
        <p:nvSpPr>
          <p:cNvPr id="221" name="Google Shape;221;p35"/>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November 2024</a:t>
            </a:r>
            <a:endParaRPr/>
          </a:p>
        </p:txBody>
      </p:sp>
      <p:pic>
        <p:nvPicPr>
          <p:cNvPr id="222" name="Google Shape;222;p35"/>
          <p:cNvPicPr preferRelativeResize="0"/>
          <p:nvPr/>
        </p:nvPicPr>
        <p:blipFill>
          <a:blip r:embed="rId3">
            <a:alphaModFix/>
          </a:blip>
          <a:stretch>
            <a:fillRect/>
          </a:stretch>
        </p:blipFill>
        <p:spPr>
          <a:xfrm>
            <a:off x="3857625" y="4183442"/>
            <a:ext cx="1428750" cy="476250"/>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6" name="Shape 226"/>
        <p:cNvGrpSpPr/>
        <p:nvPr/>
      </p:nvGrpSpPr>
      <p:grpSpPr>
        <a:xfrm>
          <a:off x="0" y="0"/>
          <a:ext cx="0" cy="0"/>
          <a:chOff x="0" y="0"/>
          <a:chExt cx="0" cy="0"/>
        </a:xfrm>
      </p:grpSpPr>
      <p:sp>
        <p:nvSpPr>
          <p:cNvPr id="227" name="Google Shape;227;p3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28" name="Google Shape;228;p3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Linux Foundation Energy (LF Energy) is an </a:t>
            </a:r>
            <a:r>
              <a:rPr b="1" lang="en">
                <a:latin typeface="Roboto Slab"/>
                <a:ea typeface="Roboto Slab"/>
                <a:cs typeface="Roboto Slab"/>
                <a:sym typeface="Roboto Slab"/>
              </a:rPr>
              <a:t>independent, member-funded non-profit</a:t>
            </a:r>
            <a:r>
              <a:rPr lang="en"/>
              <a:t> organization whose purpose is to </a:t>
            </a:r>
            <a:r>
              <a:rPr b="1" lang="en">
                <a:latin typeface="Roboto Slab"/>
                <a:ea typeface="Roboto Slab"/>
                <a:cs typeface="Roboto Slab"/>
                <a:sym typeface="Roboto Slab"/>
              </a:rPr>
              <a:t>accelerate the energy transition</a:t>
            </a:r>
            <a:r>
              <a:rPr lang="en"/>
              <a:t> through </a:t>
            </a:r>
            <a:r>
              <a:rPr b="1" lang="en">
                <a:latin typeface="Roboto Slab"/>
                <a:ea typeface="Roboto Slab"/>
                <a:cs typeface="Roboto Slab"/>
                <a:sym typeface="Roboto Slab"/>
              </a:rPr>
              <a:t>collaboration</a:t>
            </a:r>
            <a:r>
              <a:rPr lang="en"/>
              <a:t> on </a:t>
            </a:r>
            <a:r>
              <a:rPr b="1" lang="en">
                <a:latin typeface="Roboto Slab"/>
                <a:ea typeface="Roboto Slab"/>
                <a:cs typeface="Roboto Slab"/>
                <a:sym typeface="Roboto Slab"/>
              </a:rPr>
              <a:t>open source technologies and standards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We are part of the Linux Foundation, the largest shared technology investment in the world.</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2" name="Shape 232"/>
        <p:cNvGrpSpPr/>
        <p:nvPr/>
      </p:nvGrpSpPr>
      <p:grpSpPr>
        <a:xfrm>
          <a:off x="0" y="0"/>
          <a:ext cx="0" cy="0"/>
          <a:chOff x="0" y="0"/>
          <a:chExt cx="0" cy="0"/>
        </a:xfrm>
      </p:grpSpPr>
      <p:sp>
        <p:nvSpPr>
          <p:cNvPr id="233" name="Google Shape;233;p3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34" name="Google Shape;234;p37"/>
          <p:cNvSpPr txBox="1"/>
          <p:nvPr>
            <p:ph idx="1" type="body"/>
          </p:nvPr>
        </p:nvSpPr>
        <p:spPr>
          <a:xfrm>
            <a:off x="280350" y="1266450"/>
            <a:ext cx="8520600" cy="3339000"/>
          </a:xfrm>
          <a:prstGeom prst="rect">
            <a:avLst/>
          </a:prstGeom>
        </p:spPr>
        <p:txBody>
          <a:bodyPr anchorCtr="0" anchor="t" bIns="91425" lIns="91425" spcFirstLastPara="1" rIns="91425" wrap="square" tIns="91425">
            <a:normAutofit lnSpcReduction="10000"/>
          </a:bodyPr>
          <a:lstStyle/>
          <a:p>
            <a:pPr indent="0" lvl="0" marL="0" rtl="0" algn="l">
              <a:spcBef>
                <a:spcPts val="0"/>
              </a:spcBef>
              <a:spcAft>
                <a:spcPts val="0"/>
              </a:spcAft>
              <a:buNone/>
            </a:pPr>
            <a:r>
              <a:rPr lang="en"/>
              <a:t>LF Energy serves as an </a:t>
            </a:r>
            <a:r>
              <a:rPr b="1" lang="en">
                <a:latin typeface="Roboto Slab"/>
                <a:ea typeface="Roboto Slab"/>
                <a:cs typeface="Roboto Slab"/>
                <a:sym typeface="Roboto Slab"/>
              </a:rPr>
              <a:t>independent, neutral steward</a:t>
            </a:r>
            <a:r>
              <a:rPr lang="en"/>
              <a:t> for </a:t>
            </a:r>
            <a:r>
              <a:rPr b="1" lang="en">
                <a:latin typeface="Roboto Slab"/>
                <a:ea typeface="Roboto Slab"/>
                <a:cs typeface="Roboto Slab"/>
                <a:sym typeface="Roboto Slab"/>
              </a:rPr>
              <a:t>transparently governed open source</a:t>
            </a:r>
            <a:r>
              <a:rPr lang="en"/>
              <a:t> technologies and standards that serve as the </a:t>
            </a:r>
            <a:r>
              <a:rPr b="1" lang="en">
                <a:latin typeface="Roboto Slab"/>
                <a:ea typeface="Roboto Slab"/>
                <a:cs typeface="Roboto Slab"/>
                <a:sym typeface="Roboto Slab"/>
              </a:rPr>
              <a:t>trustworthy, secure digital foundation for grid modernization and modern energy services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Supported by </a:t>
            </a:r>
            <a:r>
              <a:rPr b="1" lang="en" u="sng">
                <a:solidFill>
                  <a:schemeClr val="hlink"/>
                </a:solidFill>
                <a:latin typeface="Roboto Slab"/>
                <a:ea typeface="Roboto Slab"/>
                <a:cs typeface="Roboto Slab"/>
                <a:sym typeface="Roboto Slab"/>
                <a:hlinkClick r:id="rId3"/>
              </a:rPr>
              <a:t>70+ member organizations</a:t>
            </a:r>
            <a:r>
              <a:rPr lang="en"/>
              <a:t>, </a:t>
            </a:r>
            <a:r>
              <a:rPr b="1" lang="en">
                <a:latin typeface="Roboto Slab"/>
                <a:ea typeface="Roboto Slab"/>
                <a:cs typeface="Roboto Slab"/>
                <a:sym typeface="Roboto Slab"/>
              </a:rPr>
              <a:t>1,000+ contributors</a:t>
            </a:r>
            <a:r>
              <a:rPr lang="en"/>
              <a:t> from utilities, vendors, research and energy majors collaborate on shared, pre-competitive challenges through </a:t>
            </a:r>
            <a:r>
              <a:rPr b="1" lang="en" u="sng">
                <a:solidFill>
                  <a:schemeClr val="hlink"/>
                </a:solidFill>
                <a:latin typeface="Roboto Slab"/>
                <a:ea typeface="Roboto Slab"/>
                <a:cs typeface="Roboto Slab"/>
                <a:sym typeface="Roboto Slab"/>
                <a:hlinkClick r:id="rId4"/>
              </a:rPr>
              <a:t>30+ projects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LF Energy hosts </a:t>
            </a:r>
            <a:r>
              <a:rPr lang="en" u="sng">
                <a:solidFill>
                  <a:schemeClr val="hlink"/>
                </a:solidFill>
                <a:hlinkClick r:id="rId5"/>
              </a:rPr>
              <a:t>LF Energy Summit</a:t>
            </a:r>
            <a:r>
              <a:rPr lang="en"/>
              <a:t>, the </a:t>
            </a:r>
            <a:r>
              <a:rPr b="1" lang="en">
                <a:latin typeface="Roboto Slab"/>
                <a:ea typeface="Roboto Slab"/>
                <a:cs typeface="Roboto Slab"/>
                <a:sym typeface="Roboto Slab"/>
              </a:rPr>
              <a:t>only conference focused on open source for the digital energy transition</a:t>
            </a:r>
            <a:r>
              <a:rPr lang="en"/>
              <a:t>.</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8" name="Shape 238"/>
        <p:cNvGrpSpPr/>
        <p:nvPr/>
      </p:nvGrpSpPr>
      <p:grpSpPr>
        <a:xfrm>
          <a:off x="0" y="0"/>
          <a:ext cx="0" cy="0"/>
          <a:chOff x="0" y="0"/>
          <a:chExt cx="0" cy="0"/>
        </a:xfrm>
      </p:grpSpPr>
      <p:sp>
        <p:nvSpPr>
          <p:cNvPr id="239" name="Google Shape;239;p38"/>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does LF Energy do?</a:t>
            </a:r>
            <a:endParaRPr/>
          </a:p>
        </p:txBody>
      </p:sp>
      <p:sp>
        <p:nvSpPr>
          <p:cNvPr id="240" name="Google Shape;240;p38"/>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complements existing organizations by providing a </a:t>
            </a:r>
            <a:r>
              <a:rPr lang="en"/>
              <a:t>place</a:t>
            </a:r>
            <a:r>
              <a:rPr lang="en"/>
              <a:t> to collaborate on open </a:t>
            </a:r>
            <a:r>
              <a:rPr b="1" lang="en">
                <a:latin typeface="Roboto Slab"/>
                <a:ea typeface="Roboto Slab"/>
                <a:cs typeface="Roboto Slab"/>
                <a:sym typeface="Roboto Slab"/>
              </a:rPr>
              <a:t>industrial-grade technology platforms and agile specifications</a:t>
            </a:r>
            <a:r>
              <a:rPr lang="en"/>
              <a:t>.</a:t>
            </a:r>
            <a:endParaRPr/>
          </a:p>
        </p:txBody>
      </p:sp>
      <p:grpSp>
        <p:nvGrpSpPr>
          <p:cNvPr id="241" name="Google Shape;241;p38"/>
          <p:cNvGrpSpPr/>
          <p:nvPr/>
        </p:nvGrpSpPr>
        <p:grpSpPr>
          <a:xfrm>
            <a:off x="4654025" y="3314700"/>
            <a:ext cx="1828800" cy="1828800"/>
            <a:chOff x="2097925" y="3006525"/>
            <a:chExt cx="1828800" cy="1828800"/>
          </a:xfrm>
        </p:grpSpPr>
        <p:sp>
          <p:nvSpPr>
            <p:cNvPr id="242" name="Google Shape;242;p38"/>
            <p:cNvSpPr/>
            <p:nvPr/>
          </p:nvSpPr>
          <p:spPr>
            <a:xfrm>
              <a:off x="2097925" y="3006525"/>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Early-stage research and prototypes</a:t>
              </a:r>
              <a:endParaRPr sz="1050">
                <a:latin typeface="Roboto Slab Light"/>
                <a:ea typeface="Roboto Slab Light"/>
                <a:cs typeface="Roboto Slab Light"/>
                <a:sym typeface="Roboto Slab Light"/>
              </a:endParaRPr>
            </a:p>
          </p:txBody>
        </p:sp>
        <p:pic>
          <p:nvPicPr>
            <p:cNvPr id="243" name="Google Shape;243;p38"/>
            <p:cNvPicPr preferRelativeResize="0"/>
            <p:nvPr/>
          </p:nvPicPr>
          <p:blipFill>
            <a:blip r:embed="rId3">
              <a:alphaModFix/>
            </a:blip>
            <a:stretch>
              <a:fillRect/>
            </a:stretch>
          </p:blipFill>
          <p:spPr>
            <a:xfrm>
              <a:off x="2503473" y="3415724"/>
              <a:ext cx="1017701" cy="206800"/>
            </a:xfrm>
            <a:prstGeom prst="rect">
              <a:avLst/>
            </a:prstGeom>
            <a:noFill/>
            <a:ln>
              <a:noFill/>
            </a:ln>
          </p:spPr>
        </p:pic>
      </p:grpSp>
      <p:grpSp>
        <p:nvGrpSpPr>
          <p:cNvPr id="244" name="Google Shape;244;p38"/>
          <p:cNvGrpSpPr/>
          <p:nvPr/>
        </p:nvGrpSpPr>
        <p:grpSpPr>
          <a:xfrm>
            <a:off x="7315200" y="3314700"/>
            <a:ext cx="1828800" cy="1828800"/>
            <a:chOff x="7315200" y="3314700"/>
            <a:chExt cx="1828800" cy="1828800"/>
          </a:xfrm>
        </p:grpSpPr>
        <p:sp>
          <p:nvSpPr>
            <p:cNvPr id="245" name="Google Shape;245;p38"/>
            <p:cNvSpPr/>
            <p:nvPr/>
          </p:nvSpPr>
          <p:spPr>
            <a:xfrm>
              <a:off x="7315200" y="33147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Advocacy for investor-owned electric companies</a:t>
              </a:r>
              <a:endParaRPr sz="1050">
                <a:latin typeface="Roboto Slab Light"/>
                <a:ea typeface="Roboto Slab Light"/>
                <a:cs typeface="Roboto Slab Light"/>
                <a:sym typeface="Roboto Slab Light"/>
              </a:endParaRPr>
            </a:p>
          </p:txBody>
        </p:sp>
        <p:pic>
          <p:nvPicPr>
            <p:cNvPr id="246" name="Google Shape;246;p38"/>
            <p:cNvPicPr preferRelativeResize="0"/>
            <p:nvPr/>
          </p:nvPicPr>
          <p:blipFill>
            <a:blip r:embed="rId4">
              <a:alphaModFix/>
            </a:blip>
            <a:stretch>
              <a:fillRect/>
            </a:stretch>
          </p:blipFill>
          <p:spPr>
            <a:xfrm>
              <a:off x="7982250" y="3556944"/>
              <a:ext cx="494700" cy="450500"/>
            </a:xfrm>
            <a:prstGeom prst="rect">
              <a:avLst/>
            </a:prstGeom>
            <a:noFill/>
            <a:ln>
              <a:noFill/>
            </a:ln>
          </p:spPr>
        </p:pic>
      </p:grpSp>
      <p:grpSp>
        <p:nvGrpSpPr>
          <p:cNvPr id="247" name="Google Shape;247;p38"/>
          <p:cNvGrpSpPr/>
          <p:nvPr/>
        </p:nvGrpSpPr>
        <p:grpSpPr>
          <a:xfrm>
            <a:off x="7315200" y="812200"/>
            <a:ext cx="1828800" cy="1828800"/>
            <a:chOff x="4984800" y="68800"/>
            <a:chExt cx="1828800" cy="1828800"/>
          </a:xfrm>
        </p:grpSpPr>
        <p:sp>
          <p:nvSpPr>
            <p:cNvPr id="248" name="Google Shape;248;p38"/>
            <p:cNvSpPr/>
            <p:nvPr/>
          </p:nvSpPr>
          <p:spPr>
            <a:xfrm>
              <a:off x="4984800"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a:t>
              </a:r>
              <a:endParaRPr sz="1050">
                <a:latin typeface="Roboto Slab Light"/>
                <a:ea typeface="Roboto Slab Light"/>
                <a:cs typeface="Roboto Slab Light"/>
                <a:sym typeface="Roboto Slab Light"/>
              </a:endParaRPr>
            </a:p>
          </p:txBody>
        </p:sp>
        <p:pic>
          <p:nvPicPr>
            <p:cNvPr id="249" name="Google Shape;249;p38"/>
            <p:cNvPicPr preferRelativeResize="0"/>
            <p:nvPr/>
          </p:nvPicPr>
          <p:blipFill>
            <a:blip r:embed="rId5">
              <a:alphaModFix/>
            </a:blip>
            <a:stretch>
              <a:fillRect/>
            </a:stretch>
          </p:blipFill>
          <p:spPr>
            <a:xfrm>
              <a:off x="5424816" y="458290"/>
              <a:ext cx="948749" cy="450500"/>
            </a:xfrm>
            <a:prstGeom prst="rect">
              <a:avLst/>
            </a:prstGeom>
            <a:noFill/>
            <a:ln>
              <a:noFill/>
            </a:ln>
          </p:spPr>
        </p:pic>
      </p:grpSp>
      <p:grpSp>
        <p:nvGrpSpPr>
          <p:cNvPr id="250" name="Google Shape;250;p38"/>
          <p:cNvGrpSpPr/>
          <p:nvPr/>
        </p:nvGrpSpPr>
        <p:grpSpPr>
          <a:xfrm>
            <a:off x="4654025" y="812200"/>
            <a:ext cx="1828800" cy="1828800"/>
            <a:chOff x="2097925" y="68800"/>
            <a:chExt cx="1828800" cy="1828800"/>
          </a:xfrm>
        </p:grpSpPr>
        <p:sp>
          <p:nvSpPr>
            <p:cNvPr id="251" name="Google Shape;251;p38"/>
            <p:cNvSpPr/>
            <p:nvPr/>
          </p:nvSpPr>
          <p:spPr>
            <a:xfrm>
              <a:off x="2097925"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 standards</a:t>
              </a:r>
              <a:endParaRPr sz="1050">
                <a:latin typeface="Roboto Slab Light"/>
                <a:ea typeface="Roboto Slab Light"/>
                <a:cs typeface="Roboto Slab Light"/>
                <a:sym typeface="Roboto Slab Light"/>
              </a:endParaRPr>
            </a:p>
          </p:txBody>
        </p:sp>
        <p:pic>
          <p:nvPicPr>
            <p:cNvPr id="252" name="Google Shape;252;p38"/>
            <p:cNvPicPr preferRelativeResize="0"/>
            <p:nvPr/>
          </p:nvPicPr>
          <p:blipFill rotWithShape="1">
            <a:blip r:embed="rId6">
              <a:alphaModFix/>
            </a:blip>
            <a:srcRect b="23942" l="4554" r="4372" t="23659"/>
            <a:stretch/>
          </p:blipFill>
          <p:spPr>
            <a:xfrm>
              <a:off x="2465216" y="410000"/>
              <a:ext cx="1094211" cy="354125"/>
            </a:xfrm>
            <a:prstGeom prst="rect">
              <a:avLst/>
            </a:prstGeom>
            <a:noFill/>
            <a:ln>
              <a:noFill/>
            </a:ln>
          </p:spPr>
        </p:pic>
      </p:grpSp>
      <p:grpSp>
        <p:nvGrpSpPr>
          <p:cNvPr id="253" name="Google Shape;253;p38"/>
          <p:cNvGrpSpPr/>
          <p:nvPr/>
        </p:nvGrpSpPr>
        <p:grpSpPr>
          <a:xfrm>
            <a:off x="5983675" y="2061000"/>
            <a:ext cx="1828800" cy="1828800"/>
            <a:chOff x="3543300" y="1543050"/>
            <a:chExt cx="1828800" cy="1828800"/>
          </a:xfrm>
        </p:grpSpPr>
        <p:sp>
          <p:nvSpPr>
            <p:cNvPr id="254" name="Google Shape;254;p38"/>
            <p:cNvSpPr/>
            <p:nvPr/>
          </p:nvSpPr>
          <p:spPr>
            <a:xfrm>
              <a:off x="3543300" y="1543050"/>
              <a:ext cx="1828800" cy="1828800"/>
            </a:xfrm>
            <a:prstGeom prst="ellipse">
              <a:avLst/>
            </a:prstGeom>
            <a:solidFill>
              <a:schemeClr val="accent6"/>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rPr b="1" lang="en" sz="1050">
                  <a:latin typeface="Roboto Slab"/>
                  <a:ea typeface="Roboto Slab"/>
                  <a:cs typeface="Roboto Slab"/>
                  <a:sym typeface="Roboto Slab"/>
                </a:rPr>
                <a:t>Open i</a:t>
              </a:r>
              <a:r>
                <a:rPr b="1" lang="en" sz="1050">
                  <a:latin typeface="Roboto Slab"/>
                  <a:ea typeface="Roboto Slab"/>
                  <a:cs typeface="Roboto Slab"/>
                  <a:sym typeface="Roboto Slab"/>
                </a:rPr>
                <a:t>ndustrial-grade technology platforms and agile </a:t>
              </a:r>
              <a:r>
                <a:rPr b="1" lang="en" sz="1050">
                  <a:latin typeface="Roboto Slab"/>
                  <a:ea typeface="Roboto Slab"/>
                  <a:cs typeface="Roboto Slab"/>
                  <a:sym typeface="Roboto Slab"/>
                </a:rPr>
                <a:t>specifications</a:t>
              </a:r>
              <a:endParaRPr b="1" sz="1050">
                <a:latin typeface="Roboto Slab"/>
                <a:ea typeface="Roboto Slab"/>
                <a:cs typeface="Roboto Slab"/>
                <a:sym typeface="Roboto Slab"/>
              </a:endParaRPr>
            </a:p>
          </p:txBody>
        </p:sp>
        <p:pic>
          <p:nvPicPr>
            <p:cNvPr id="255" name="Google Shape;255;p38"/>
            <p:cNvPicPr preferRelativeResize="0"/>
            <p:nvPr/>
          </p:nvPicPr>
          <p:blipFill>
            <a:blip r:embed="rId7">
              <a:alphaModFix/>
            </a:blip>
            <a:stretch>
              <a:fillRect/>
            </a:stretch>
          </p:blipFill>
          <p:spPr>
            <a:xfrm>
              <a:off x="3781188" y="1897601"/>
              <a:ext cx="1353024" cy="206800"/>
            </a:xfrm>
            <a:prstGeom prst="rect">
              <a:avLst/>
            </a:prstGeom>
            <a:noFill/>
            <a:ln>
              <a:noFill/>
            </a:ln>
          </p:spPr>
        </p:pic>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0" name="Shape 260"/>
        <p:cNvGrpSpPr/>
        <p:nvPr/>
      </p:nvGrpSpPr>
      <p:grpSpPr>
        <a:xfrm>
          <a:off x="0" y="0"/>
          <a:ext cx="0" cy="0"/>
          <a:chOff x="0" y="0"/>
          <a:chExt cx="0" cy="0"/>
        </a:xfrm>
      </p:grpSpPr>
      <p:sp>
        <p:nvSpPr>
          <p:cNvPr id="261" name="Google Shape;261;p39"/>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3800"/>
              <a:t>Members</a:t>
            </a:r>
            <a:endParaRPr sz="3800"/>
          </a:p>
        </p:txBody>
      </p:sp>
      <p:pic>
        <p:nvPicPr>
          <p:cNvPr id="262" name="Google Shape;262;p39"/>
          <p:cNvPicPr preferRelativeResize="0"/>
          <p:nvPr/>
        </p:nvPicPr>
        <p:blipFill>
          <a:blip r:embed="rId3">
            <a:alphaModFix/>
          </a:blip>
          <a:stretch>
            <a:fillRect/>
          </a:stretch>
        </p:blipFill>
        <p:spPr>
          <a:xfrm>
            <a:off x="4000500" y="0"/>
            <a:ext cx="5143501" cy="5143501"/>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6" name="Shape 266"/>
        <p:cNvGrpSpPr/>
        <p:nvPr/>
      </p:nvGrpSpPr>
      <p:grpSpPr>
        <a:xfrm>
          <a:off x="0" y="0"/>
          <a:ext cx="0" cy="0"/>
          <a:chOff x="0" y="0"/>
          <a:chExt cx="0" cy="0"/>
        </a:xfrm>
      </p:grpSpPr>
      <p:sp>
        <p:nvSpPr>
          <p:cNvPr id="267" name="Google Shape;267;p4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Project Landscape</a:t>
            </a:r>
            <a:endParaRPr/>
          </a:p>
        </p:txBody>
      </p:sp>
      <p:pic>
        <p:nvPicPr>
          <p:cNvPr id="268" name="Google Shape;268;p40"/>
          <p:cNvPicPr preferRelativeResize="0"/>
          <p:nvPr/>
        </p:nvPicPr>
        <p:blipFill>
          <a:blip r:embed="rId3">
            <a:alphaModFix/>
          </a:blip>
          <a:stretch>
            <a:fillRect/>
          </a:stretch>
        </p:blipFill>
        <p:spPr>
          <a:xfrm>
            <a:off x="0" y="1017800"/>
            <a:ext cx="9143998" cy="3817526"/>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2" name="Shape 272"/>
        <p:cNvGrpSpPr/>
        <p:nvPr/>
      </p:nvGrpSpPr>
      <p:grpSpPr>
        <a:xfrm>
          <a:off x="0" y="0"/>
          <a:ext cx="0" cy="0"/>
          <a:chOff x="0" y="0"/>
          <a:chExt cx="0" cy="0"/>
        </a:xfrm>
      </p:grpSpPr>
      <p:sp>
        <p:nvSpPr>
          <p:cNvPr id="273" name="Google Shape;273;p41"/>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Membership</a:t>
            </a:r>
            <a:endParaRPr/>
          </a:p>
        </p:txBody>
      </p:sp>
      <p:sp>
        <p:nvSpPr>
          <p:cNvPr id="274" name="Google Shape;274;p41"/>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8" name="Shape 278"/>
        <p:cNvGrpSpPr/>
        <p:nvPr/>
      </p:nvGrpSpPr>
      <p:grpSpPr>
        <a:xfrm>
          <a:off x="0" y="0"/>
          <a:ext cx="0" cy="0"/>
          <a:chOff x="0" y="0"/>
          <a:chExt cx="0" cy="0"/>
        </a:xfrm>
      </p:grpSpPr>
      <p:sp>
        <p:nvSpPr>
          <p:cNvPr id="279" name="Google Shape;279;p42"/>
          <p:cNvSpPr txBox="1"/>
          <p:nvPr/>
        </p:nvSpPr>
        <p:spPr>
          <a:xfrm>
            <a:off x="3047988"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“Driven by the needs of the energy transition, our digitalization roadmap is becoming titanic. While traditional software development models are failing to keep pace, being a strategic member of LF Energy has enabled us to pave the way for open source collaborations that meet our challenges.”</a:t>
            </a:r>
            <a:endParaRPr sz="1000">
              <a:solidFill>
                <a:schemeClr val="dk2"/>
              </a:solidFill>
              <a:latin typeface="Roboto Slab Light"/>
              <a:ea typeface="Roboto Slab Light"/>
              <a:cs typeface="Roboto Slab Light"/>
              <a:sym typeface="Roboto Slab Light"/>
            </a:endParaRPr>
          </a:p>
        </p:txBody>
      </p:sp>
      <p:sp>
        <p:nvSpPr>
          <p:cNvPr id="280" name="Google Shape;280;p4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Why we joined LF Energy…</a:t>
            </a:r>
            <a:endParaRPr/>
          </a:p>
        </p:txBody>
      </p:sp>
      <p:pic>
        <p:nvPicPr>
          <p:cNvPr id="281" name="Google Shape;281;p42"/>
          <p:cNvPicPr preferRelativeResize="0"/>
          <p:nvPr/>
        </p:nvPicPr>
        <p:blipFill>
          <a:blip r:embed="rId3">
            <a:alphaModFix/>
          </a:blip>
          <a:stretch>
            <a:fillRect/>
          </a:stretch>
        </p:blipFill>
        <p:spPr>
          <a:xfrm>
            <a:off x="917600" y="1207650"/>
            <a:ext cx="1212800" cy="401500"/>
          </a:xfrm>
          <a:prstGeom prst="rect">
            <a:avLst/>
          </a:prstGeom>
          <a:noFill/>
          <a:ln>
            <a:noFill/>
          </a:ln>
        </p:spPr>
      </p:pic>
      <p:sp>
        <p:nvSpPr>
          <p:cNvPr id="282" name="Google Shape;282;p42"/>
          <p:cNvSpPr txBox="1"/>
          <p:nvPr/>
        </p:nvSpPr>
        <p:spPr>
          <a:xfrm>
            <a:off x="0"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“Joining the LF Energy ecosystem will help Hydro-Québec in its innovation process to better respond to the energy transition, while sharing its know-how and expertise with the energy market and helping to decarbonize it.”</a:t>
            </a:r>
            <a:endParaRPr sz="1000">
              <a:solidFill>
                <a:schemeClr val="dk2"/>
              </a:solidFill>
              <a:latin typeface="Roboto Slab Light"/>
              <a:ea typeface="Roboto Slab Light"/>
              <a:cs typeface="Roboto Slab Light"/>
              <a:sym typeface="Roboto Slab Light"/>
            </a:endParaRPr>
          </a:p>
        </p:txBody>
      </p:sp>
      <p:pic>
        <p:nvPicPr>
          <p:cNvPr id="283" name="Google Shape;283;p42"/>
          <p:cNvPicPr preferRelativeResize="0"/>
          <p:nvPr/>
        </p:nvPicPr>
        <p:blipFill>
          <a:blip r:embed="rId4">
            <a:alphaModFix/>
          </a:blip>
          <a:stretch>
            <a:fillRect/>
          </a:stretch>
        </p:blipFill>
        <p:spPr>
          <a:xfrm>
            <a:off x="4325462" y="1161862"/>
            <a:ext cx="493074" cy="493074"/>
          </a:xfrm>
          <a:prstGeom prst="rect">
            <a:avLst/>
          </a:prstGeom>
          <a:noFill/>
          <a:ln>
            <a:noFill/>
          </a:ln>
        </p:spPr>
      </p:pic>
      <p:sp>
        <p:nvSpPr>
          <p:cNvPr id="284" name="Google Shape;284;p42"/>
          <p:cNvSpPr txBox="1"/>
          <p:nvPr/>
        </p:nvSpPr>
        <p:spPr>
          <a:xfrm>
            <a:off x="6095975"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“Collaboration and partnerships are central to our digital strategy. As a member of LF Energy, we can expand our open source efforts, leverage the Linux Foundation's expertise in Open Source, and share knowledge and resources across the industry and academia for a greater collective impact.”</a:t>
            </a:r>
            <a:endParaRPr sz="1000">
              <a:solidFill>
                <a:schemeClr val="dk2"/>
              </a:solidFill>
              <a:latin typeface="Roboto Slab Light"/>
              <a:ea typeface="Roboto Slab Light"/>
              <a:cs typeface="Roboto Slab Light"/>
              <a:sym typeface="Roboto Slab Light"/>
            </a:endParaRPr>
          </a:p>
        </p:txBody>
      </p:sp>
      <p:pic>
        <p:nvPicPr>
          <p:cNvPr id="285" name="Google Shape;285;p42"/>
          <p:cNvPicPr preferRelativeResize="0"/>
          <p:nvPr/>
        </p:nvPicPr>
        <p:blipFill rotWithShape="1">
          <a:blip r:embed="rId5">
            <a:alphaModFix/>
          </a:blip>
          <a:srcRect b="30324" l="0" r="0" t="31874"/>
          <a:stretch/>
        </p:blipFill>
        <p:spPr>
          <a:xfrm>
            <a:off x="7088912" y="1207638"/>
            <a:ext cx="1062139" cy="401499"/>
          </a:xfrm>
          <a:prstGeom prst="rect">
            <a:avLst/>
          </a:prstGeom>
          <a:noFill/>
          <a:ln>
            <a:noFill/>
          </a:ln>
        </p:spPr>
      </p:pic>
      <p:pic>
        <p:nvPicPr>
          <p:cNvPr id="286" name="Google Shape;286;p42"/>
          <p:cNvPicPr preferRelativeResize="0"/>
          <p:nvPr/>
        </p:nvPicPr>
        <p:blipFill>
          <a:blip r:embed="rId6">
            <a:alphaModFix/>
          </a:blip>
          <a:stretch>
            <a:fillRect/>
          </a:stretch>
        </p:blipFill>
        <p:spPr>
          <a:xfrm>
            <a:off x="508525" y="2845275"/>
            <a:ext cx="1905635" cy="374775"/>
          </a:xfrm>
          <a:prstGeom prst="rect">
            <a:avLst/>
          </a:prstGeom>
          <a:noFill/>
          <a:ln>
            <a:noFill/>
          </a:ln>
        </p:spPr>
      </p:pic>
      <p:sp>
        <p:nvSpPr>
          <p:cNvPr id="287" name="Google Shape;287;p42"/>
          <p:cNvSpPr txBox="1"/>
          <p:nvPr/>
        </p:nvSpPr>
        <p:spPr>
          <a:xfrm>
            <a:off x="0" y="3276875"/>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“LF Energy has been a huge benefit in supporting the EVerest community with knowledge of open source best practices, legal and marketing support, as well as many exciting networking opportunities in the energy industry.”</a:t>
            </a:r>
            <a:endParaRPr sz="1000">
              <a:solidFill>
                <a:schemeClr val="dk2"/>
              </a:solidFill>
              <a:latin typeface="Roboto Slab Light"/>
              <a:ea typeface="Roboto Slab Light"/>
              <a:cs typeface="Roboto Slab Light"/>
              <a:sym typeface="Roboto Slab Light"/>
            </a:endParaRPr>
          </a:p>
        </p:txBody>
      </p:sp>
      <p:pic>
        <p:nvPicPr>
          <p:cNvPr id="288" name="Google Shape;288;p42"/>
          <p:cNvPicPr preferRelativeResize="0"/>
          <p:nvPr/>
        </p:nvPicPr>
        <p:blipFill>
          <a:blip r:embed="rId7">
            <a:alphaModFix/>
          </a:blip>
          <a:stretch>
            <a:fillRect/>
          </a:stretch>
        </p:blipFill>
        <p:spPr>
          <a:xfrm>
            <a:off x="4133703" y="2786124"/>
            <a:ext cx="876575" cy="493076"/>
          </a:xfrm>
          <a:prstGeom prst="rect">
            <a:avLst/>
          </a:prstGeom>
          <a:noFill/>
          <a:ln>
            <a:noFill/>
          </a:ln>
        </p:spPr>
      </p:pic>
      <p:sp>
        <p:nvSpPr>
          <p:cNvPr id="289" name="Google Shape;289;p42"/>
          <p:cNvSpPr txBox="1"/>
          <p:nvPr/>
        </p:nvSpPr>
        <p:spPr>
          <a:xfrm>
            <a:off x="3047988"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“We’re seeing not only from inside but also from people wanting to work for Shell that they want to work in an open source way, they want to work with tools like that, be a part of a community like LF Energy.”</a:t>
            </a:r>
            <a:endParaRPr sz="1000">
              <a:solidFill>
                <a:schemeClr val="dk2"/>
              </a:solidFill>
              <a:latin typeface="Roboto Slab Light"/>
              <a:ea typeface="Roboto Slab Light"/>
              <a:cs typeface="Roboto Slab Light"/>
              <a:sym typeface="Roboto Slab Light"/>
            </a:endParaRPr>
          </a:p>
        </p:txBody>
      </p:sp>
      <p:sp>
        <p:nvSpPr>
          <p:cNvPr id="290" name="Google Shape;290;p42"/>
          <p:cNvSpPr txBox="1"/>
          <p:nvPr/>
        </p:nvSpPr>
        <p:spPr>
          <a:xfrm>
            <a:off x="6095963"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“Simply utilizing open source is not enough. We are committed to actively contributing back, sharing our code with the world, and fostering the growth of the open source landscape. This is why Welotec has joined LF Energy.”</a:t>
            </a:r>
            <a:endParaRPr sz="1000">
              <a:solidFill>
                <a:schemeClr val="dk2"/>
              </a:solidFill>
              <a:latin typeface="Roboto Slab Light"/>
              <a:ea typeface="Roboto Slab Light"/>
              <a:cs typeface="Roboto Slab Light"/>
              <a:sym typeface="Roboto Slab Light"/>
            </a:endParaRPr>
          </a:p>
        </p:txBody>
      </p:sp>
      <p:pic>
        <p:nvPicPr>
          <p:cNvPr id="291" name="Google Shape;291;p42"/>
          <p:cNvPicPr preferRelativeResize="0"/>
          <p:nvPr/>
        </p:nvPicPr>
        <p:blipFill>
          <a:blip r:embed="rId8">
            <a:alphaModFix/>
          </a:blip>
          <a:stretch>
            <a:fillRect/>
          </a:stretch>
        </p:blipFill>
        <p:spPr>
          <a:xfrm>
            <a:off x="6819025" y="2877813"/>
            <a:ext cx="1601896" cy="309700"/>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5" name="Shape 295"/>
        <p:cNvGrpSpPr/>
        <p:nvPr/>
      </p:nvGrpSpPr>
      <p:grpSpPr>
        <a:xfrm>
          <a:off x="0" y="0"/>
          <a:ext cx="0" cy="0"/>
          <a:chOff x="0" y="0"/>
          <a:chExt cx="0" cy="0"/>
        </a:xfrm>
      </p:grpSpPr>
      <p:sp>
        <p:nvSpPr>
          <p:cNvPr id="296" name="Google Shape;296;p4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Overview</a:t>
            </a:r>
            <a:endParaRPr/>
          </a:p>
        </p:txBody>
      </p:sp>
      <p:sp>
        <p:nvSpPr>
          <p:cNvPr id="297" name="Google Shape;297;p43"/>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600"/>
              <a:t>Anyone can participate in an LF Energy project, but only members get access to…</a:t>
            </a:r>
            <a:endParaRPr sz="1600"/>
          </a:p>
        </p:txBody>
      </p:sp>
      <p:graphicFrame>
        <p:nvGraphicFramePr>
          <p:cNvPr id="298" name="Google Shape;298;p43"/>
          <p:cNvGraphicFramePr/>
          <p:nvPr/>
        </p:nvGraphicFramePr>
        <p:xfrm>
          <a:off x="0" y="1684325"/>
          <a:ext cx="3000000" cy="3000000"/>
        </p:xfrm>
        <a:graphic>
          <a:graphicData uri="http://schemas.openxmlformats.org/drawingml/2006/table">
            <a:tbl>
              <a:tblPr>
                <a:noFill/>
                <a:tableStyleId>{FEA6065E-0FE3-47DE-BD8C-31E3A3F95132}</a:tableStyleId>
              </a:tblPr>
              <a:tblGrid>
                <a:gridCol w="1828800"/>
                <a:gridCol w="1828800"/>
                <a:gridCol w="1828800"/>
                <a:gridCol w="1828800"/>
                <a:gridCol w="1828800"/>
              </a:tblGrid>
              <a:tr h="1343150">
                <a:tc>
                  <a:txBody>
                    <a:bodyPr/>
                    <a:lstStyle/>
                    <a:p>
                      <a:pPr indent="0" lvl="0" marL="0" rtl="0" algn="ctr">
                        <a:spcBef>
                          <a:spcPts val="0"/>
                        </a:spcBef>
                        <a:spcAft>
                          <a:spcPts val="0"/>
                        </a:spcAft>
                        <a:buNone/>
                      </a:pPr>
                      <a:r>
                        <a:rPr b="1" lang="en" sz="1000">
                          <a:latin typeface="Roboto"/>
                          <a:ea typeface="Roboto"/>
                          <a:cs typeface="Roboto"/>
                          <a:sym typeface="Roboto"/>
                        </a:rPr>
                        <a:t>Access and Networking</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Access to thought leaders and peers through discounted access and members-only events.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Ecosystem Stability</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Mitigate risk by financially supporting the open source ecosystem that your organization relies upon, ensuring you can rely on it for decades to come.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Governance &amp; Legal</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LF Energy governance and legal support to enable highly regulated entities to safely collaborate in the open.</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Marketing</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our community and platform to amplify your reach, connecting with customers and collaborators.</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Community Growth</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Scale your R&amp;D investments through collaborators and contributors found through the LF Energy community.</a:t>
                      </a:r>
                      <a:endParaRPr sz="1000">
                        <a:latin typeface="Roboto"/>
                        <a:ea typeface="Roboto"/>
                        <a:cs typeface="Roboto"/>
                        <a:sym typeface="Roboto"/>
                      </a:endParaRPr>
                    </a:p>
                  </a:txBody>
                  <a:tcPr marT="91425" marB="91425" marR="91425" marL="91425">
                    <a:solidFill>
                      <a:schemeClr val="lt1"/>
                    </a:solidFill>
                  </a:tcPr>
                </a:tc>
              </a:tr>
              <a:tr h="1343150">
                <a:tc>
                  <a:txBody>
                    <a:bodyPr/>
                    <a:lstStyle/>
                    <a:p>
                      <a:pPr indent="0" lvl="0" marL="0" rtl="0" algn="ctr">
                        <a:spcBef>
                          <a:spcPts val="0"/>
                        </a:spcBef>
                        <a:spcAft>
                          <a:spcPts val="0"/>
                        </a:spcAft>
                        <a:buNone/>
                      </a:pPr>
                      <a:r>
                        <a:rPr b="1" lang="en" sz="1000">
                          <a:latin typeface="Roboto"/>
                          <a:ea typeface="Roboto"/>
                          <a:cs typeface="Roboto"/>
                          <a:sym typeface="Roboto"/>
                        </a:rPr>
                        <a:t>First Mover Advantage</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Stay on the cutting edge of digital edge transition, seeing and shaping where the market is going.</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Leadership</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Demonstrate market leadership, and actively steer the direction of LF Energy through voting seats on the Governing Board, TAC, and other committees.</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Advising</a:t>
                      </a:r>
                      <a:endParaRPr b="1" sz="1000">
                        <a:latin typeface="Roboto"/>
                        <a:ea typeface="Roboto"/>
                        <a:cs typeface="Roboto"/>
                        <a:sym typeface="Roboto"/>
                      </a:endParaRPr>
                    </a:p>
                    <a:p>
                      <a:pPr indent="0" lvl="0" marL="0" rtl="0" algn="ctr">
                        <a:spcBef>
                          <a:spcPts val="0"/>
                        </a:spcBef>
                        <a:spcAft>
                          <a:spcPts val="0"/>
                        </a:spcAft>
                        <a:buNone/>
                      </a:pPr>
                      <a:r>
                        <a:t/>
                      </a:r>
                      <a:endParaRPr b="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Receive white glove partnership from LF Energy staff to reach your digital goals through open source.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Talent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Improve access to and retention of talent by demonstrating your support of open source.</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t/>
                      </a:r>
                      <a:endParaRPr b="1"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2" name="Shape 302"/>
        <p:cNvGrpSpPr/>
        <p:nvPr/>
      </p:nvGrpSpPr>
      <p:grpSpPr>
        <a:xfrm>
          <a:off x="0" y="0"/>
          <a:ext cx="0" cy="0"/>
          <a:chOff x="0" y="0"/>
          <a:chExt cx="0" cy="0"/>
        </a:xfrm>
      </p:grpSpPr>
      <p:sp>
        <p:nvSpPr>
          <p:cNvPr id="303" name="Google Shape;303;p44"/>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Project Formation</a:t>
            </a:r>
            <a:endParaRPr/>
          </a:p>
        </p:txBody>
      </p:sp>
      <p:sp>
        <p:nvSpPr>
          <p:cNvPr id="304" name="Google Shape;304;p44"/>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800"/>
              <a:t>“</a:t>
            </a:r>
            <a:r>
              <a:rPr lang="en" sz="1800"/>
              <a:t>Through a series of sessions working together, LF Energy helped us shape a new project in a way that enables a shared, open foundation with space for partners to cooperate and innovate on top. We see LF Energy membership as a key strategic move to bring some of our projects to next level.</a:t>
            </a:r>
            <a:r>
              <a:rPr lang="en" sz="1800"/>
              <a:t>”</a:t>
            </a:r>
            <a:endParaRPr sz="1800"/>
          </a:p>
        </p:txBody>
      </p:sp>
      <p:pic>
        <p:nvPicPr>
          <p:cNvPr id="305" name="Google Shape;305;p44"/>
          <p:cNvPicPr preferRelativeResize="0"/>
          <p:nvPr/>
        </p:nvPicPr>
        <p:blipFill>
          <a:blip r:embed="rId3">
            <a:alphaModFix/>
          </a:blip>
          <a:stretch>
            <a:fillRect/>
          </a:stretch>
        </p:blipFill>
        <p:spPr>
          <a:xfrm>
            <a:off x="5058100" y="1992575"/>
            <a:ext cx="3498998" cy="1158349"/>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9" name="Shape 309"/>
        <p:cNvGrpSpPr/>
        <p:nvPr/>
      </p:nvGrpSpPr>
      <p:grpSpPr>
        <a:xfrm>
          <a:off x="0" y="0"/>
          <a:ext cx="0" cy="0"/>
          <a:chOff x="0" y="0"/>
          <a:chExt cx="0" cy="0"/>
        </a:xfrm>
      </p:grpSpPr>
      <p:sp>
        <p:nvSpPr>
          <p:cNvPr id="310" name="Google Shape;310;p45"/>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Legal</a:t>
            </a:r>
            <a:endParaRPr/>
          </a:p>
        </p:txBody>
      </p:sp>
      <p:pic>
        <p:nvPicPr>
          <p:cNvPr id="311" name="Google Shape;311;p45"/>
          <p:cNvPicPr preferRelativeResize="0"/>
          <p:nvPr/>
        </p:nvPicPr>
        <p:blipFill rotWithShape="1">
          <a:blip r:embed="rId3">
            <a:alphaModFix/>
          </a:blip>
          <a:srcRect b="30324" l="0" r="0" t="31874"/>
          <a:stretch/>
        </p:blipFill>
        <p:spPr>
          <a:xfrm>
            <a:off x="5374405" y="2031146"/>
            <a:ext cx="2860275" cy="1081200"/>
          </a:xfrm>
          <a:prstGeom prst="rect">
            <a:avLst/>
          </a:prstGeom>
          <a:noFill/>
          <a:ln>
            <a:noFill/>
          </a:ln>
        </p:spPr>
      </p:pic>
      <p:sp>
        <p:nvSpPr>
          <p:cNvPr id="312" name="Google Shape;312;p45"/>
          <p:cNvSpPr txBox="1"/>
          <p:nvPr>
            <p:ph idx="1" type="body"/>
          </p:nvPr>
        </p:nvSpPr>
        <p:spPr>
          <a:xfrm>
            <a:off x="311700" y="1229975"/>
            <a:ext cx="3999900" cy="33390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sz="1800"/>
              <a:t>“As a highly regulated utility, our legal team approaches new types of collaboration initiatives with caution. Through our partnership with the LF, we were able to connect our legal team with the LF legal team. This collaboration provided our legal team the reassurance and expertise needed, ultimately making our legal team not only comfortable but also enthusiastic about open source. Without the LF's support, we would not have been able to move this quickly and smoothly.”</a:t>
            </a:r>
            <a:endParaRPr sz="1800"/>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6" name="Shape 316"/>
        <p:cNvGrpSpPr/>
        <p:nvPr/>
      </p:nvGrpSpPr>
      <p:grpSpPr>
        <a:xfrm>
          <a:off x="0" y="0"/>
          <a:ext cx="0" cy="0"/>
          <a:chOff x="0" y="0"/>
          <a:chExt cx="0" cy="0"/>
        </a:xfrm>
      </p:grpSpPr>
      <p:sp>
        <p:nvSpPr>
          <p:cNvPr id="317" name="Google Shape;317;p4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We enable you to become open source leaders</a:t>
            </a:r>
            <a:endParaRPr/>
          </a:p>
        </p:txBody>
      </p:sp>
      <p:pic>
        <p:nvPicPr>
          <p:cNvPr id="318" name="Google Shape;318;p46"/>
          <p:cNvPicPr preferRelativeResize="0"/>
          <p:nvPr/>
        </p:nvPicPr>
        <p:blipFill>
          <a:blip r:embed="rId3">
            <a:alphaModFix/>
          </a:blip>
          <a:stretch>
            <a:fillRect/>
          </a:stretch>
        </p:blipFill>
        <p:spPr>
          <a:xfrm>
            <a:off x="694725" y="1118751"/>
            <a:ext cx="7754551" cy="3304151"/>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2" name="Shape 322"/>
        <p:cNvGrpSpPr/>
        <p:nvPr/>
      </p:nvGrpSpPr>
      <p:grpSpPr>
        <a:xfrm>
          <a:off x="0" y="0"/>
          <a:ext cx="0" cy="0"/>
          <a:chOff x="0" y="0"/>
          <a:chExt cx="0" cy="0"/>
        </a:xfrm>
      </p:grpSpPr>
      <p:sp>
        <p:nvSpPr>
          <p:cNvPr id="323" name="Google Shape;323;p4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Leadership</a:t>
            </a:r>
            <a:endParaRPr/>
          </a:p>
        </p:txBody>
      </p:sp>
      <p:graphicFrame>
        <p:nvGraphicFramePr>
          <p:cNvPr id="324" name="Google Shape;324;p47"/>
          <p:cNvGraphicFramePr/>
          <p:nvPr/>
        </p:nvGraphicFramePr>
        <p:xfrm>
          <a:off x="311700" y="1091175"/>
          <a:ext cx="3000000" cy="3000000"/>
        </p:xfrm>
        <a:graphic>
          <a:graphicData uri="http://schemas.openxmlformats.org/drawingml/2006/table">
            <a:tbl>
              <a:tblPr>
                <a:noFill/>
                <a:tableStyleId>{FEA6065E-0FE3-47DE-BD8C-31E3A3F95132}</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Governing Board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Drive the overall</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Foundation strategy, network with fellow executive leaders in energy</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Elected</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 seat for every 10 members)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Technical Advisory Council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Set the technical strategy, guide the project ecosystem</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Advising from LF Energy</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Receive custom advising from LFE Executive Director and staff to support your goals</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Limited</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8" name="Shape 328"/>
        <p:cNvGrpSpPr/>
        <p:nvPr/>
      </p:nvGrpSpPr>
      <p:grpSpPr>
        <a:xfrm>
          <a:off x="0" y="0"/>
          <a:ext cx="0" cy="0"/>
          <a:chOff x="0" y="0"/>
          <a:chExt cx="0" cy="0"/>
        </a:xfrm>
      </p:grpSpPr>
      <p:sp>
        <p:nvSpPr>
          <p:cNvPr id="329" name="Google Shape;329;p4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Brand and Marketing</a:t>
            </a:r>
            <a:endParaRPr/>
          </a:p>
        </p:txBody>
      </p:sp>
      <p:graphicFrame>
        <p:nvGraphicFramePr>
          <p:cNvPr id="330" name="Google Shape;330;p48"/>
          <p:cNvGraphicFramePr/>
          <p:nvPr/>
        </p:nvGraphicFramePr>
        <p:xfrm>
          <a:off x="311700" y="1091175"/>
          <a:ext cx="3000000" cy="3000000"/>
        </p:xfrm>
        <a:graphic>
          <a:graphicData uri="http://schemas.openxmlformats.org/drawingml/2006/table">
            <a:tbl>
              <a:tblPr>
                <a:noFill/>
                <a:tableStyleId>{FEA6065E-0FE3-47DE-BD8C-31E3A3F95132}</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Brand positioning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Have your company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recognized as a leader in digital energy technology</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(Top positioning on collateral and dedicated press release upon joining)</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(Positioning on collateral)</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LF Energy-led</a:t>
                      </a:r>
                      <a:endParaRPr b="1" sz="1000">
                        <a:latin typeface="Roboto"/>
                        <a:ea typeface="Roboto"/>
                        <a:cs typeface="Roboto"/>
                        <a:sym typeface="Roboto"/>
                      </a:endParaRPr>
                    </a:p>
                    <a:p>
                      <a:pPr indent="0" lvl="0" marL="0" rtl="0" algn="l">
                        <a:spcBef>
                          <a:spcPts val="0"/>
                        </a:spcBef>
                        <a:spcAft>
                          <a:spcPts val="0"/>
                        </a:spcAft>
                        <a:buNone/>
                      </a:pPr>
                      <a:r>
                        <a:rPr b="1" lang="en" sz="1000">
                          <a:latin typeface="Roboto"/>
                          <a:ea typeface="Roboto"/>
                          <a:cs typeface="Roboto"/>
                          <a:sym typeface="Roboto"/>
                        </a:rPr>
                        <a:t>co-marketing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Engage over 6k digital energy transition technologists through our blog, webinars, newsletter and case studies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4" name="Shape 334"/>
        <p:cNvGrpSpPr/>
        <p:nvPr/>
      </p:nvGrpSpPr>
      <p:grpSpPr>
        <a:xfrm>
          <a:off x="0" y="0"/>
          <a:ext cx="0" cy="0"/>
          <a:chOff x="0" y="0"/>
          <a:chExt cx="0" cy="0"/>
        </a:xfrm>
      </p:grpSpPr>
      <p:sp>
        <p:nvSpPr>
          <p:cNvPr id="335" name="Google Shape;335;p49"/>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Events</a:t>
            </a:r>
            <a:endParaRPr/>
          </a:p>
        </p:txBody>
      </p:sp>
      <p:graphicFrame>
        <p:nvGraphicFramePr>
          <p:cNvPr id="336" name="Google Shape;336;p49"/>
          <p:cNvGraphicFramePr/>
          <p:nvPr/>
        </p:nvGraphicFramePr>
        <p:xfrm>
          <a:off x="311700" y="1091175"/>
          <a:ext cx="3000000" cy="3000000"/>
        </p:xfrm>
        <a:graphic>
          <a:graphicData uri="http://schemas.openxmlformats.org/drawingml/2006/table">
            <a:tbl>
              <a:tblPr>
                <a:noFill/>
                <a:tableStyleId>{FEA6065E-0FE3-47DE-BD8C-31E3A3F95132}</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Members-only Meetings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Exclusive member-only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events and roundtables</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where members explore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new opportunities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existing projects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rowSpan="2">
                  <a:txBody>
                    <a:bodyPr/>
                    <a:lstStyle/>
                    <a:p>
                      <a:pPr indent="0" lvl="0" marL="0" rtl="0" algn="l">
                        <a:spcBef>
                          <a:spcPts val="0"/>
                        </a:spcBef>
                        <a:spcAft>
                          <a:spcPts val="0"/>
                        </a:spcAft>
                        <a:buNone/>
                      </a:pPr>
                      <a:r>
                        <a:rPr b="1" lang="en" sz="1000">
                          <a:latin typeface="Roboto"/>
                          <a:ea typeface="Roboto"/>
                          <a:cs typeface="Roboto"/>
                          <a:sym typeface="Roboto"/>
                        </a:rPr>
                        <a:t>LF Energy Summit</a:t>
                      </a:r>
                      <a:endParaRPr b="1" sz="1000">
                        <a:latin typeface="Roboto"/>
                        <a:ea typeface="Roboto"/>
                        <a:cs typeface="Roboto"/>
                        <a:sym typeface="Roboto"/>
                      </a:endParaRPr>
                    </a:p>
                  </a:txBody>
                  <a:tcPr marT="91425" marB="91425" marR="91425" marL="91425"/>
                </a:tc>
                <a:tc rowSpan="2">
                  <a:txBody>
                    <a:bodyPr/>
                    <a:lstStyle/>
                    <a:p>
                      <a:pPr indent="0" lvl="0" marL="0" rtl="0" algn="l">
                        <a:spcBef>
                          <a:spcPts val="0"/>
                        </a:spcBef>
                        <a:spcAft>
                          <a:spcPts val="0"/>
                        </a:spcAft>
                        <a:buNone/>
                      </a:pPr>
                      <a:r>
                        <a:rPr i="1" lang="en" sz="1000">
                          <a:latin typeface="Roboto"/>
                          <a:ea typeface="Roboto"/>
                          <a:cs typeface="Roboto"/>
                          <a:sym typeface="Roboto"/>
                        </a:rPr>
                        <a:t>Only industry event at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the cross section of</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energy, open source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tech, providing</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unparalleled content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networking.</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r h="673825">
                <a:tc vMerge="1"/>
                <a:tc vMerge="1"/>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rtl="0" algn="ctr">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Submit speaking</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requests</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through</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standard CFP</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5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Training</a:t>
            </a:r>
            <a:endParaRPr/>
          </a:p>
        </p:txBody>
      </p:sp>
      <p:graphicFrame>
        <p:nvGraphicFramePr>
          <p:cNvPr id="342" name="Google Shape;342;p50"/>
          <p:cNvGraphicFramePr/>
          <p:nvPr/>
        </p:nvGraphicFramePr>
        <p:xfrm>
          <a:off x="311700" y="1091175"/>
          <a:ext cx="3000000" cy="3000000"/>
        </p:xfrm>
        <a:graphic>
          <a:graphicData uri="http://schemas.openxmlformats.org/drawingml/2006/table">
            <a:tbl>
              <a:tblPr>
                <a:noFill/>
                <a:tableStyleId>{FEA6065E-0FE3-47DE-BD8C-31E3A3F95132}</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Linux Foundation Training and certifications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LF Energy members enjoy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premium access to LF Open Source Training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Certification</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50-seat, annual subscription granting access to our library of eLearning courses and certification exams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10 complementary LF Training course / certification tickets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6" name="Shape 346"/>
        <p:cNvGrpSpPr/>
        <p:nvPr/>
      </p:nvGrpSpPr>
      <p:grpSpPr>
        <a:xfrm>
          <a:off x="0" y="0"/>
          <a:ext cx="0" cy="0"/>
          <a:chOff x="0" y="0"/>
          <a:chExt cx="0" cy="0"/>
        </a:xfrm>
      </p:grpSpPr>
      <p:sp>
        <p:nvSpPr>
          <p:cNvPr id="347" name="Google Shape;347;p51"/>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Membership Tiers</a:t>
            </a:r>
            <a:endParaRPr/>
          </a:p>
        </p:txBody>
      </p:sp>
      <p:sp>
        <p:nvSpPr>
          <p:cNvPr id="348" name="Google Shape;348;p51"/>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Strategic</a:t>
            </a:r>
            <a:endParaRPr b="1">
              <a:latin typeface="Roboto Slab"/>
              <a:ea typeface="Roboto Slab"/>
              <a:cs typeface="Roboto Slab"/>
              <a:sym typeface="Roboto Slab"/>
            </a:endParaRPr>
          </a:p>
          <a:p>
            <a:pPr indent="0" lvl="0" marL="0" rtl="0" algn="l">
              <a:spcBef>
                <a:spcPts val="0"/>
              </a:spcBef>
              <a:spcAft>
                <a:spcPts val="0"/>
              </a:spcAft>
              <a:buNone/>
            </a:pPr>
            <a:r>
              <a:t/>
            </a:r>
            <a:endParaRPr/>
          </a:p>
          <a:p>
            <a:pPr indent="0" lvl="0" marL="0" rtl="0" algn="l">
              <a:spcBef>
                <a:spcPts val="0"/>
              </a:spcBef>
              <a:spcAft>
                <a:spcPts val="0"/>
              </a:spcAft>
              <a:buNone/>
            </a:pPr>
            <a:r>
              <a:rPr i="1" lang="en"/>
              <a:t>$150k / year</a:t>
            </a:r>
            <a:endParaRPr i="1"/>
          </a:p>
          <a:p>
            <a:pPr indent="0" lvl="0" marL="0" rtl="0" algn="l">
              <a:spcBef>
                <a:spcPts val="0"/>
              </a:spcBef>
              <a:spcAft>
                <a:spcPts val="0"/>
              </a:spcAft>
              <a:buNone/>
            </a:pPr>
            <a:r>
              <a:t/>
            </a:r>
            <a:endParaRPr/>
          </a:p>
          <a:p>
            <a:pPr indent="0" lvl="0" marL="0" rtl="0" algn="l">
              <a:spcBef>
                <a:spcPts val="0"/>
              </a:spcBef>
              <a:spcAft>
                <a:spcPts val="0"/>
              </a:spcAft>
              <a:buNone/>
            </a:pPr>
            <a:r>
              <a:rPr lang="en"/>
              <a:t>Organizations that want to demonstrate market leadership and directly influence the future of digital energy.</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p:txBody>
      </p:sp>
      <p:sp>
        <p:nvSpPr>
          <p:cNvPr id="349" name="Google Shape;349;p51"/>
          <p:cNvSpPr txBox="1"/>
          <p:nvPr>
            <p:ph idx="2" type="body"/>
          </p:nvPr>
        </p:nvSpPr>
        <p:spPr>
          <a:xfrm>
            <a:off x="48324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General</a:t>
            </a:r>
            <a:endParaRPr b="1">
              <a:latin typeface="Roboto Slab"/>
              <a:ea typeface="Roboto Slab"/>
              <a:cs typeface="Roboto Slab"/>
              <a:sym typeface="Roboto Slab"/>
            </a:endParaRPr>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i="1" lang="en"/>
              <a:t>$5-50k / year</a:t>
            </a:r>
            <a:endParaRPr i="1"/>
          </a:p>
          <a:p>
            <a:pPr indent="0" lvl="0" marL="0" rtl="0" algn="l">
              <a:spcBef>
                <a:spcPts val="0"/>
              </a:spcBef>
              <a:spcAft>
                <a:spcPts val="0"/>
              </a:spcAft>
              <a:buNone/>
            </a:pPr>
            <a:r>
              <a:rPr i="1" lang="en" sz="800"/>
              <a:t>Fees scale based on # of employees</a:t>
            </a:r>
            <a:endParaRPr i="1" sz="800"/>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lang="en"/>
              <a:t>Organizations that want to amplify their impact and accelerate the energy transition.</a:t>
            </a:r>
            <a:endParaRPr/>
          </a:p>
          <a:p>
            <a:pPr indent="0" lvl="0" marL="0" rtl="0" algn="l">
              <a:spcBef>
                <a:spcPts val="0"/>
              </a:spcBef>
              <a:spcAft>
                <a:spcPts val="0"/>
              </a:spcAft>
              <a:buNone/>
            </a:pPr>
            <a:r>
              <a:t/>
            </a:r>
            <a:endParaRPr b="1">
              <a:latin typeface="Roboto Slab"/>
              <a:ea typeface="Roboto Slab"/>
              <a:cs typeface="Roboto Slab"/>
              <a:sym typeface="Roboto Slab"/>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3" name="Shape 353"/>
        <p:cNvGrpSpPr/>
        <p:nvPr/>
      </p:nvGrpSpPr>
      <p:grpSpPr>
        <a:xfrm>
          <a:off x="0" y="0"/>
          <a:ext cx="0" cy="0"/>
          <a:chOff x="0" y="0"/>
          <a:chExt cx="0" cy="0"/>
        </a:xfrm>
      </p:grpSpPr>
      <p:sp>
        <p:nvSpPr>
          <p:cNvPr id="354" name="Google Shape;354;p5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Linux Foundation Member Benefits</a:t>
            </a:r>
            <a:endParaRPr/>
          </a:p>
        </p:txBody>
      </p:sp>
      <p:sp>
        <p:nvSpPr>
          <p:cNvPr id="355" name="Google Shape;355;p52"/>
          <p:cNvSpPr txBox="1"/>
          <p:nvPr>
            <p:ph idx="1" type="body"/>
          </p:nvPr>
        </p:nvSpPr>
        <p:spPr>
          <a:xfrm>
            <a:off x="273125" y="919200"/>
            <a:ext cx="8520600" cy="543300"/>
          </a:xfrm>
          <a:prstGeom prst="rect">
            <a:avLst/>
          </a:prstGeom>
        </p:spPr>
        <p:txBody>
          <a:bodyPr anchorCtr="0" anchor="t" bIns="91425" lIns="91425" spcFirstLastPara="1" rIns="91425" wrap="square" tIns="91425">
            <a:normAutofit lnSpcReduction="20000"/>
          </a:bodyPr>
          <a:lstStyle/>
          <a:p>
            <a:pPr indent="0" lvl="0" marL="0" rtl="0" algn="l">
              <a:spcBef>
                <a:spcPts val="0"/>
              </a:spcBef>
              <a:spcAft>
                <a:spcPts val="0"/>
              </a:spcAft>
              <a:buNone/>
            </a:pPr>
            <a:r>
              <a:rPr lang="en" sz="1200"/>
              <a:t>All LF Energy members must also become members of the Linux Foundation at any tier (more information </a:t>
            </a:r>
            <a:r>
              <a:rPr lang="en" sz="1200" u="sng">
                <a:solidFill>
                  <a:schemeClr val="hlink"/>
                </a:solidFill>
                <a:hlinkClick r:id="rId3"/>
              </a:rPr>
              <a:t>here</a:t>
            </a:r>
            <a:r>
              <a:rPr lang="en" sz="1200"/>
              <a:t>). </a:t>
            </a:r>
            <a:r>
              <a:rPr b="1" lang="en" sz="1200">
                <a:latin typeface="Roboto Slab"/>
                <a:ea typeface="Roboto Slab"/>
                <a:cs typeface="Roboto Slab"/>
                <a:sym typeface="Roboto Slab"/>
              </a:rPr>
              <a:t>Some</a:t>
            </a:r>
            <a:r>
              <a:rPr lang="en" sz="1200"/>
              <a:t> of the </a:t>
            </a:r>
            <a:r>
              <a:rPr lang="en" sz="1200" u="sng">
                <a:solidFill>
                  <a:schemeClr val="hlink"/>
                </a:solidFill>
                <a:hlinkClick r:id="rId4"/>
              </a:rPr>
              <a:t>benefits</a:t>
            </a:r>
            <a:r>
              <a:rPr lang="en" sz="1200"/>
              <a:t> your organization can take advantage of by being an LF member include:</a:t>
            </a:r>
            <a:endParaRPr sz="1200"/>
          </a:p>
        </p:txBody>
      </p:sp>
      <p:graphicFrame>
        <p:nvGraphicFramePr>
          <p:cNvPr id="356" name="Google Shape;356;p52"/>
          <p:cNvGraphicFramePr/>
          <p:nvPr/>
        </p:nvGraphicFramePr>
        <p:xfrm>
          <a:off x="0" y="1462500"/>
          <a:ext cx="3000000" cy="3000000"/>
        </p:xfrm>
        <a:graphic>
          <a:graphicData uri="http://schemas.openxmlformats.org/drawingml/2006/table">
            <a:tbl>
              <a:tblPr>
                <a:noFill/>
                <a:tableStyleId>{FEA6065E-0FE3-47DE-BD8C-31E3A3F95132}</a:tableStyleId>
              </a:tblPr>
              <a:tblGrid>
                <a:gridCol w="3048000"/>
                <a:gridCol w="3048000"/>
                <a:gridCol w="3048000"/>
              </a:tblGrid>
              <a:tr h="2076475">
                <a:tc>
                  <a:txBody>
                    <a:bodyPr/>
                    <a:lstStyle/>
                    <a:p>
                      <a:pPr indent="0" lvl="0" marL="0" rtl="0" algn="ctr">
                        <a:spcBef>
                          <a:spcPts val="0"/>
                        </a:spcBef>
                        <a:spcAft>
                          <a:spcPts val="0"/>
                        </a:spcAft>
                        <a:buNone/>
                      </a:pPr>
                      <a:r>
                        <a:rPr b="1" lang="en" sz="1200">
                          <a:latin typeface="Roboto"/>
                          <a:ea typeface="Roboto"/>
                          <a:cs typeface="Roboto"/>
                          <a:sym typeface="Roboto"/>
                        </a:rPr>
                        <a:t>Legal</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Conferences. Join exclusive legal conferences including the annual LF Legal Summit, LF Open Compliance Summit, legal tracks at the Open Source Leadership Summit, and access the bimonthly legal counsel calls.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Ad-hoc support. Engage with our open source compliance experts for ad hoc discussions ranging from potential new projects to internal program office structures and processes.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Strategic Guidance</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Best Practices. Opportunity for your open source program office to participate in the TODO Group (todogroup.org) and Open Source Security Foundation (OpenSSF).</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Introductions to other Linux Foundation members and hosted projects of interest to expand business opportunities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Insights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Leverage LFX Insights to validate projects for investment, and track the activity and growth of projects you’re already involved in.</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Gain visibility on your project’s code pipeline and performance metrics. Ensure the health &amp; viability of the open source projects you care about.</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Showcase your organization’s leadership and subject matter expertise in the open source community</a:t>
                      </a:r>
                      <a:endParaRPr sz="1000">
                        <a:latin typeface="Roboto"/>
                        <a:ea typeface="Roboto"/>
                        <a:cs typeface="Roboto"/>
                        <a:sym typeface="Roboto"/>
                      </a:endParaRPr>
                    </a:p>
                  </a:txBody>
                  <a:tcPr marT="91425" marB="91425" marR="91425" marL="91425">
                    <a:solidFill>
                      <a:schemeClr val="lt1"/>
                    </a:solidFill>
                  </a:tcPr>
                </a:tc>
              </a:tr>
              <a:tr h="1604525">
                <a:tc>
                  <a:txBody>
                    <a:bodyPr/>
                    <a:lstStyle/>
                    <a:p>
                      <a:pPr indent="0" lvl="0" marL="0" rtl="0" algn="ctr">
                        <a:spcBef>
                          <a:spcPts val="0"/>
                        </a:spcBef>
                        <a:spcAft>
                          <a:spcPts val="0"/>
                        </a:spcAft>
                        <a:buNone/>
                      </a:pPr>
                      <a:r>
                        <a:rPr b="1" lang="en" sz="1200">
                          <a:latin typeface="Roboto"/>
                          <a:ea typeface="Roboto"/>
                          <a:cs typeface="Roboto"/>
                          <a:sym typeface="Roboto"/>
                        </a:rPr>
                        <a:t>Events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for Linux Foundation Events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Access to exclusive, member-only events like the LF member summit</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Training</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Access discounted LF Training &amp; Certification offerings. Check out the LF Course Catalog and use the quote tool to obtain your discounts.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Platinum ONLY. Enterprise wide license to  Open Source Management and Best practices curriculum</a:t>
                      </a:r>
                      <a:endParaRPr sz="1000">
                        <a:latin typeface="Roboto"/>
                        <a:ea typeface="Roboto"/>
                        <a:cs typeface="Roboto"/>
                        <a:sym typeface="Roboto"/>
                      </a:endParaRPr>
                    </a:p>
                    <a:p>
                      <a:pPr indent="0" lvl="0" marL="0" rtl="0" algn="l">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Marketing</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Lead sponsored webinars.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Participate in articles and press releases.</a:t>
                      </a:r>
                      <a:endParaRPr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0" name="Shape 360"/>
        <p:cNvGrpSpPr/>
        <p:nvPr/>
      </p:nvGrpSpPr>
      <p:grpSpPr>
        <a:xfrm>
          <a:off x="0" y="0"/>
          <a:ext cx="0" cy="0"/>
          <a:chOff x="0" y="0"/>
          <a:chExt cx="0" cy="0"/>
        </a:xfrm>
      </p:grpSpPr>
      <p:sp>
        <p:nvSpPr>
          <p:cNvPr id="361" name="Google Shape;361;p53"/>
          <p:cNvSpPr txBox="1"/>
          <p:nvPr>
            <p:ph type="ctrTitle"/>
          </p:nvPr>
        </p:nvSpPr>
        <p:spPr>
          <a:xfrm>
            <a:off x="598100" y="1226375"/>
            <a:ext cx="68313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Ready to join LF Energy?</a:t>
            </a:r>
            <a:endParaRPr/>
          </a:p>
        </p:txBody>
      </p:sp>
      <p:sp>
        <p:nvSpPr>
          <p:cNvPr id="362" name="Google Shape;362;p53"/>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Fill out a </a:t>
            </a:r>
            <a:r>
              <a:rPr lang="en" u="sng">
                <a:solidFill>
                  <a:schemeClr val="hlink"/>
                </a:solidFill>
                <a:hlinkClick r:id="rId3"/>
              </a:rPr>
              <a:t>membership application</a:t>
            </a:r>
            <a:r>
              <a:rPr lang="en"/>
              <a:t> now</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6" name="Shape 366"/>
        <p:cNvGrpSpPr/>
        <p:nvPr/>
      </p:nvGrpSpPr>
      <p:grpSpPr>
        <a:xfrm>
          <a:off x="0" y="0"/>
          <a:ext cx="0" cy="0"/>
          <a:chOff x="0" y="0"/>
          <a:chExt cx="0" cy="0"/>
        </a:xfrm>
      </p:grpSpPr>
      <p:sp>
        <p:nvSpPr>
          <p:cNvPr id="367" name="Google Shape;367;p54"/>
          <p:cNvSpPr txBox="1"/>
          <p:nvPr>
            <p:ph type="title"/>
          </p:nvPr>
        </p:nvSpPr>
        <p:spPr>
          <a:xfrm>
            <a:off x="311700" y="410000"/>
            <a:ext cx="6614100" cy="607800"/>
          </a:xfrm>
          <a:prstGeom prst="rect">
            <a:avLst/>
          </a:prstGeom>
          <a:noFill/>
          <a:ln>
            <a:noFill/>
          </a:ln>
        </p:spPr>
        <p:txBody>
          <a:bodyPr anchorCtr="0" anchor="ctr" bIns="34275" lIns="68575" spcFirstLastPara="1" rIns="68575" wrap="square" tIns="34275">
            <a:normAutofit/>
          </a:bodyPr>
          <a:lstStyle/>
          <a:p>
            <a:pPr indent="0" lvl="0" marL="0" rtl="0" algn="l">
              <a:lnSpc>
                <a:spcPct val="90000"/>
              </a:lnSpc>
              <a:spcBef>
                <a:spcPts val="0"/>
              </a:spcBef>
              <a:spcAft>
                <a:spcPts val="0"/>
              </a:spcAft>
              <a:buClr>
                <a:srgbClr val="168FDF"/>
              </a:buClr>
              <a:buSzPts val="2700"/>
              <a:buFont typeface="Open Sans"/>
              <a:buNone/>
            </a:pPr>
            <a:r>
              <a:rPr lang="en"/>
              <a:t>Contact Us</a:t>
            </a:r>
            <a:endParaRPr/>
          </a:p>
        </p:txBody>
      </p:sp>
      <p:sp>
        <p:nvSpPr>
          <p:cNvPr id="368" name="Google Shape;368;p54"/>
          <p:cNvSpPr txBox="1"/>
          <p:nvPr>
            <p:ph idx="12" type="sldNum"/>
          </p:nvPr>
        </p:nvSpPr>
        <p:spPr>
          <a:xfrm>
            <a:off x="8460431" y="4651190"/>
            <a:ext cx="548700" cy="393600"/>
          </a:xfrm>
          <a:prstGeom prst="rect">
            <a:avLst/>
          </a:prstGeom>
          <a:noFill/>
          <a:ln>
            <a:noFill/>
          </a:ln>
        </p:spPr>
        <p:txBody>
          <a:bodyPr anchorCtr="0" anchor="ctr" bIns="34275" lIns="68575" spcFirstLastPara="1" rIns="68575" wrap="square" tIns="3427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
        <p:nvSpPr>
          <p:cNvPr id="369" name="Google Shape;369;p54"/>
          <p:cNvSpPr txBox="1"/>
          <p:nvPr>
            <p:ph idx="1" type="body"/>
          </p:nvPr>
        </p:nvSpPr>
        <p:spPr>
          <a:xfrm>
            <a:off x="311700" y="1229975"/>
            <a:ext cx="3999900" cy="3339000"/>
          </a:xfrm>
          <a:prstGeom prst="rect">
            <a:avLst/>
          </a:prstGeom>
          <a:noFill/>
          <a:ln>
            <a:noFill/>
          </a:ln>
        </p:spPr>
        <p:txBody>
          <a:bodyPr anchorCtr="0" anchor="t" bIns="34275" lIns="68575" spcFirstLastPara="1" rIns="68575" wrap="square" tIns="34275">
            <a:normAutofit/>
          </a:bodyPr>
          <a:lstStyle/>
          <a:p>
            <a:pPr indent="0" lvl="0" marL="0" rtl="0" algn="l">
              <a:lnSpc>
                <a:spcPct val="120000"/>
              </a:lnSpc>
              <a:spcBef>
                <a:spcPts val="0"/>
              </a:spcBef>
              <a:spcAft>
                <a:spcPts val="0"/>
              </a:spcAft>
              <a:buSzPts val="2700"/>
              <a:buNone/>
            </a:pPr>
            <a:r>
              <a:rPr lang="en" sz="2700"/>
              <a:t>Linux Foundation Energy</a:t>
            </a:r>
            <a:endParaRPr/>
          </a:p>
          <a:p>
            <a:pPr indent="0" lvl="0" marL="0" rtl="0" algn="l">
              <a:lnSpc>
                <a:spcPct val="120000"/>
              </a:lnSpc>
              <a:spcBef>
                <a:spcPts val="800"/>
              </a:spcBef>
              <a:spcAft>
                <a:spcPts val="0"/>
              </a:spcAft>
              <a:buSzPts val="2100"/>
              <a:buNone/>
            </a:pPr>
            <a:r>
              <a:rPr lang="en"/>
              <a:t>548 Market St</a:t>
            </a:r>
            <a:br>
              <a:rPr lang="en"/>
            </a:br>
            <a:r>
              <a:rPr lang="en"/>
              <a:t>PMB 57274</a:t>
            </a:r>
            <a:br>
              <a:rPr lang="en"/>
            </a:br>
            <a:r>
              <a:rPr lang="en"/>
              <a:t>San Francisco CA 94104</a:t>
            </a:r>
            <a:br>
              <a:rPr lang="en"/>
            </a:br>
            <a:r>
              <a:rPr lang="en"/>
              <a:t>Phone/Fax: +1 415 723-9709</a:t>
            </a:r>
            <a:br>
              <a:rPr lang="en"/>
            </a:br>
            <a:r>
              <a:rPr lang="en" u="sng">
                <a:solidFill>
                  <a:schemeClr val="hlink"/>
                </a:solidFill>
                <a:hlinkClick r:id="rId3"/>
              </a:rPr>
              <a:t>www.lfenergy.org</a:t>
            </a:r>
            <a:endParaRPr/>
          </a:p>
        </p:txBody>
      </p:sp>
      <p:sp>
        <p:nvSpPr>
          <p:cNvPr id="370" name="Google Shape;370;p54"/>
          <p:cNvSpPr txBox="1"/>
          <p:nvPr>
            <p:ph idx="2" type="body"/>
          </p:nvPr>
        </p:nvSpPr>
        <p:spPr>
          <a:xfrm>
            <a:off x="4832400" y="1229975"/>
            <a:ext cx="3999900" cy="3339000"/>
          </a:xfrm>
          <a:prstGeom prst="rect">
            <a:avLst/>
          </a:prstGeom>
          <a:noFill/>
          <a:ln>
            <a:noFill/>
          </a:ln>
        </p:spPr>
        <p:txBody>
          <a:bodyPr anchorCtr="0" anchor="t" bIns="34275" lIns="68575" spcFirstLastPara="1" rIns="68575" wrap="square" tIns="34275">
            <a:noAutofit/>
          </a:bodyPr>
          <a:lstStyle/>
          <a:p>
            <a:pPr indent="0" lvl="0" marL="0" rtl="0" algn="l">
              <a:lnSpc>
                <a:spcPct val="110000"/>
              </a:lnSpc>
              <a:spcBef>
                <a:spcPts val="0"/>
              </a:spcBef>
              <a:spcAft>
                <a:spcPts val="0"/>
              </a:spcAft>
              <a:buSzPts val="1900"/>
              <a:buNone/>
            </a:pPr>
            <a:r>
              <a:rPr lang="en" sz="1900"/>
              <a:t>General Inquiries</a:t>
            </a:r>
            <a:endParaRPr sz="1400"/>
          </a:p>
          <a:p>
            <a:pPr indent="0" lvl="0" marL="0" rtl="0" algn="l">
              <a:lnSpc>
                <a:spcPct val="110000"/>
              </a:lnSpc>
              <a:spcBef>
                <a:spcPts val="800"/>
              </a:spcBef>
              <a:spcAft>
                <a:spcPts val="0"/>
              </a:spcAft>
              <a:buSzPts val="1900"/>
              <a:buNone/>
            </a:pPr>
            <a:r>
              <a:rPr lang="en" sz="1900" u="sng">
                <a:solidFill>
                  <a:schemeClr val="hlink"/>
                </a:solidFill>
                <a:hlinkClick r:id="rId4"/>
              </a:rPr>
              <a:t>info@lfenergy.org</a:t>
            </a:r>
            <a:endParaRPr sz="1900"/>
          </a:p>
          <a:p>
            <a:pPr indent="0" lvl="0" marL="0" rtl="0" algn="l">
              <a:lnSpc>
                <a:spcPct val="110000"/>
              </a:lnSpc>
              <a:spcBef>
                <a:spcPts val="800"/>
              </a:spcBef>
              <a:spcAft>
                <a:spcPts val="0"/>
              </a:spcAft>
              <a:buSzPts val="1900"/>
              <a:buNone/>
            </a:pPr>
            <a:r>
              <a:rPr lang="en" sz="1900"/>
              <a:t>Membership</a:t>
            </a:r>
            <a:endParaRPr sz="1400"/>
          </a:p>
          <a:p>
            <a:pPr indent="0" lvl="0" marL="0" rtl="0" algn="l">
              <a:lnSpc>
                <a:spcPct val="110000"/>
              </a:lnSpc>
              <a:spcBef>
                <a:spcPts val="800"/>
              </a:spcBef>
              <a:spcAft>
                <a:spcPts val="0"/>
              </a:spcAft>
              <a:buSzPts val="1900"/>
              <a:buNone/>
            </a:pPr>
            <a:r>
              <a:rPr lang="en" sz="1900" u="sng">
                <a:solidFill>
                  <a:schemeClr val="hlink"/>
                </a:solidFill>
                <a:hlinkClick r:id="rId5"/>
              </a:rPr>
              <a:t>membership@lfenergy.org</a:t>
            </a:r>
            <a:endParaRPr sz="1900"/>
          </a:p>
        </p:txBody>
      </p:sp>
      <p:pic>
        <p:nvPicPr>
          <p:cNvPr id="371" name="Google Shape;371;p54"/>
          <p:cNvPicPr preferRelativeResize="0"/>
          <p:nvPr/>
        </p:nvPicPr>
        <p:blipFill rotWithShape="1">
          <a:blip r:embed="rId6">
            <a:alphaModFix/>
          </a:blip>
          <a:srcRect b="0" l="0" r="0" t="0"/>
          <a:stretch/>
        </p:blipFill>
        <p:spPr>
          <a:xfrm>
            <a:off x="528555" y="4014371"/>
            <a:ext cx="304686" cy="247430"/>
          </a:xfrm>
          <a:prstGeom prst="rect">
            <a:avLst/>
          </a:prstGeom>
          <a:noFill/>
          <a:ln>
            <a:noFill/>
          </a:ln>
        </p:spPr>
      </p:pic>
      <p:pic>
        <p:nvPicPr>
          <p:cNvPr descr="A picture containing clipart&#10;&#10;Description generated with very high confidence" id="372" name="Google Shape;372;p54"/>
          <p:cNvPicPr preferRelativeResize="0"/>
          <p:nvPr/>
        </p:nvPicPr>
        <p:blipFill rotWithShape="1">
          <a:blip r:embed="rId7">
            <a:alphaModFix/>
          </a:blip>
          <a:srcRect b="0" l="0" r="0" t="0"/>
          <a:stretch/>
        </p:blipFill>
        <p:spPr>
          <a:xfrm>
            <a:off x="1051438" y="4015692"/>
            <a:ext cx="244789" cy="244789"/>
          </a:xfrm>
          <a:prstGeom prst="rect">
            <a:avLst/>
          </a:prstGeom>
          <a:noFill/>
          <a:ln>
            <a:noFill/>
          </a:ln>
        </p:spPr>
      </p:pic>
      <p:pic>
        <p:nvPicPr>
          <p:cNvPr descr="A close up of a sign&#10;&#10;Description generated with very high confidence" id="373" name="Google Shape;373;p54"/>
          <p:cNvPicPr preferRelativeResize="0"/>
          <p:nvPr/>
        </p:nvPicPr>
        <p:blipFill rotWithShape="1">
          <a:blip r:embed="rId8">
            <a:alphaModFix/>
          </a:blip>
          <a:srcRect b="0" l="0" r="0" t="0"/>
          <a:stretch/>
        </p:blipFill>
        <p:spPr>
          <a:xfrm>
            <a:off x="2026468" y="4014371"/>
            <a:ext cx="351412" cy="247430"/>
          </a:xfrm>
          <a:prstGeom prst="rect">
            <a:avLst/>
          </a:prstGeom>
          <a:noFill/>
          <a:ln>
            <a:noFill/>
          </a:ln>
        </p:spPr>
      </p:pic>
      <p:pic>
        <p:nvPicPr>
          <p:cNvPr descr="A picture containing clipart&#10;&#10;Description generated with very high confidence" id="374" name="Google Shape;374;p54"/>
          <p:cNvPicPr preferRelativeResize="0"/>
          <p:nvPr/>
        </p:nvPicPr>
        <p:blipFill rotWithShape="1">
          <a:blip r:embed="rId9">
            <a:alphaModFix/>
          </a:blip>
          <a:srcRect b="0" l="0" r="0" t="0"/>
          <a:stretch/>
        </p:blipFill>
        <p:spPr>
          <a:xfrm>
            <a:off x="1546481" y="4014371"/>
            <a:ext cx="272630" cy="247429"/>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